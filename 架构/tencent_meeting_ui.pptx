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
  <Relationship Id="rId3" Type="http://schemas.openxmlformats.org/package/2006/relationships/metadata/core-properties" Target="docProps/core.xml"></Relationship>
  <Relationship Id="rId2" Type="http://schemas.openxmlformats.org/package/2006/relationships/metadata/thumbnail" Target="docProps/thumbnail.jpeg"></Relationship>
  <Relationship Id="rId1" Type="http://schemas.openxmlformats.org/officeDocument/2006/relationships/officeDocument" Target="ppt/presentation.xml"></Relationship>
  <Relationship Id="rId4" Type="http://schemas.openxmlformats.org/officeDocument/2006/relationships/extended-properties" Target="docProps/app.xml"></Relationship>
  <Relationship Id="rId5" Type="http://schemas.openxmlformats.org/officeDocument/2006/relationships/custom-properties" Target="docProps/custom.xml"></Relationship>
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embedTrueTypeFonts="1">
  <p:sldMasterIdLst>
    <p:sldMasterId id="2147483648" r:id="rId1"/>
    <p:sldMasterId id="2147483660" r:id="rId2"/>
  </p:sldMasterIdLst>
  <p:notesMasterIdLst>
    <p:notesMasterId r:id="rId25"/>
  </p:notesMasterIdLst>
  <p:sldIdLst>
    <p:sldId id="256" r:id="rId3"/>
    <p:sldId id="266" r:id="rId4"/>
    <p:sldId id="276" r:id="rId6"/>
    <p:sldId id="275" r:id="rId7"/>
    <p:sldId id="277" r:id="rId8"/>
    <p:sldId id="293" r:id="rId9"/>
    <p:sldId id="279" r:id="rId10"/>
    <p:sldId id="289" r:id="rId19"/>
    <p:sldId id="296" r:id="rId20"/>
    <p:sldId id="291" r:id="rId22"/>
    <p:sldId id="292" r:id="rId23"/>
    <p:sldId id="290" r:id="rId21"/>
    <p:sldId id="297" r:id="rId30"/>
    <p:sldId id="295" r:id="rId24"/>
  </p:sldIdLst>
  <p:sldSz cx="12192000" cy="6858000"/>
  <p:notesSz cx="6858000" cy="9144000"/>
  <p:embeddedFontLst>
    <p:embeddedFont>
      <p:font typeface="ChillYunmoGothicBold"/>
      <p:regular r:id="rId31"/>
    </p:embeddedFont>
    <p:embeddedFont>
      <p:font typeface="Didot"/>
      <p:regular r:id="rId32"/>
      <p:bold r:id="rId33"/>
    </p:embeddedFont>
    <p:embeddedFont>
      <p:font typeface="JetBrains Mono"/>
      <p:regular r:id="rId34"/>
      <p:bold r:id="rId35"/>
    </p:embeddedFont>
    <p:embeddedFont>
      <p:font typeface="MiSans VF Bold"/>
      <p:regular r:id="rId36"/>
    </p:embeddedFont>
    <p:embeddedFont>
      <p:font typeface="MiSans VF Demibold"/>
      <p:regular r:id="rId37"/>
    </p:embeddedFont>
    <p:embeddedFont>
      <p:font typeface="MiSans VF Light"/>
      <p:regular r:id="rId38"/>
    </p:embeddedFont>
    <p:embeddedFont>
      <p:font typeface="SimHei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84FF"/>
    <a:srgbClr val="30394C"/>
    <a:srgbClr val="25C2D9"/>
    <a:srgbClr val="6C81B1"/>
    <a:srgbClr val="57678B"/>
    <a:srgbClr val="6CB5FF"/>
    <a:srgbClr val="302F31"/>
    <a:srgbClr val="379CF7"/>
    <a:srgbClr val="0074FD"/>
    <a:srgbClr val="2760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31"/>
    <p:restoredTop sz="94658"/>
  </p:normalViewPr>
  <p:slideViewPr>
    <p:cSldViewPr snapToGrid="0">
      <p:cViewPr varScale="1">
        <p:scale>
          <a:sx n="120" d="100"/>
          <a:sy n="120" d="100"/>
        </p:scale>
        <p:origin x="20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openxmlformats.org/officeDocument/2006/relationships/slide" Target="slides/slide23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Relationship Id="rId39" Type="http://schemas.openxmlformats.org/officeDocument/2006/relationships/font" Target="fonts/font9.fntdata"/><Relationship Id="rId40" Type="http://schemas.openxmlformats.org/officeDocument/2006/relationships/font" Target="fonts/font10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C8FB6-6195-6179-89BA-F9E8CB009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>
            <a:extLst>
              <a:ext uri="{FF2B5EF4-FFF2-40B4-BE49-F238E27FC236}">
                <a16:creationId xmlns:a16="http://schemas.microsoft.com/office/drawing/2014/main" id="{203E0076-4591-FA01-0E9E-41F12149CB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7AB087EC-E062-F304-75CF-3015B839A96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8" name="Slide Image Placeholder 3">
            <a:extLst>
              <a:ext uri="{FF2B5EF4-FFF2-40B4-BE49-F238E27FC236}">
                <a16:creationId xmlns:a16="http://schemas.microsoft.com/office/drawing/2014/main" id="{80B85547-949B-2447-F320-BF5853287B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9" name="Notes Placeholder 4">
            <a:extLst>
              <a:ext uri="{FF2B5EF4-FFF2-40B4-BE49-F238E27FC236}">
                <a16:creationId xmlns:a16="http://schemas.microsoft.com/office/drawing/2014/main" id="{769C7579-2B7B-E763-BE75-D92F3206D8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0490D9AE-7ABB-57A5-43CA-26C3B69BE3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699A35F3-3CE2-A291-2C0E-1CB07B1CAB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6945045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88395"/>
              </a:buClr>
              <a:buSzPts val="1800"/>
              <a:buNone/>
              <a:defRPr sz="1800">
                <a:solidFill>
                  <a:srgbClr val="78839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500"/>
              <a:buNone/>
              <a:defRPr sz="1500">
                <a:solidFill>
                  <a:srgbClr val="78839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400"/>
              <a:buNone/>
              <a:defRPr sz="1400">
                <a:solidFill>
                  <a:srgbClr val="78839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altLang="en-US"/>
              <a:t>单击图标添加图片</a:t>
            </a:r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8839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8839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/>
        <a:defRPr sz="1400" b="0" i="0" u="none" strike="noStrike" cap="none">
          <a:solidFill>
            <a:srgbClr val="202632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g_adf1216ee6.jpg"/><Relationship Id="rId1" Type="http://schemas.openxmlformats.org/officeDocument/2006/relationships/slideLayout" Target="../slideLayouts/slideLayout1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>
            <a:extLst>
              <a:ext uri="{FF2B5EF4-FFF2-40B4-BE49-F238E27FC236}">
                <a16:creationId id="{B4868360-5BE0-B706-217D-A484EA95B785}"/>
              </a:ext>
            </a:extLst>
          </p:cNvPr>
          <p:cNvGrpSpPr/>
          <p:nvPr/>
        </p:nvGrpSpPr>
        <p:grpSpPr>
          <a:xfrm>
            <a:off x="-239398" y="-1280369"/>
            <a:ext cx="12667766" cy="9418738"/>
            <a:chOff x="-239398" y="-1280369"/>
            <a:chExt cx="12667766" cy="9418738"/>
          </a:xfrm>
        </p:grpSpPr>
        <p:cxnSp>
          <p:nvCxnSpPr>
            <p:cNvPr id="33" name="直线连接符 32">
              <a:extLst>
                <a:ext uri="{FF2B5EF4-FFF2-40B4-BE49-F238E27FC236}">
                  <a16:creationId id="{E6A4CF5F-BCAA-3F83-8003-4A2B5C17A881}"/>
                </a:ext>
              </a:extLst>
            </p:cNvPr>
            <p:cNvCxnSpPr>
              <a:cxnSpLocks/>
            </p:cNvCxnSpPr>
            <p:nvPr/>
          </p:nvCxnSpPr>
          <p:spPr>
            <a:xfrm>
              <a:off x="11945342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id="{F83B50BC-9B7C-7EC1-D931-725CC3F5D2C4}"/>
                </a:ext>
              </a:extLst>
            </p:cNvPr>
            <p:cNvCxnSpPr>
              <a:cxnSpLocks/>
            </p:cNvCxnSpPr>
            <p:nvPr/>
          </p:nvCxnSpPr>
          <p:spPr>
            <a:xfrm>
              <a:off x="243628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id="{34E4D301-CF27-6E77-4A82-BA0663386B3B}"/>
                </a:ext>
              </a:extLst>
            </p:cNvPr>
            <p:cNvCxnSpPr>
              <a:cxnSpLocks/>
            </p:cNvCxnSpPr>
            <p:nvPr/>
          </p:nvCxnSpPr>
          <p:spPr>
            <a:xfrm>
              <a:off x="524797" y="385358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>
              <a:extLst>
                <a:ext uri="{FF2B5EF4-FFF2-40B4-BE49-F238E27FC236}">
                  <a16:creationId id="{F4C24A69-4A60-D951-255A-C50ED2F0AF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13761" y="6442064"/>
              <a:ext cx="12642129" cy="26232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id="{57F23C9E-0A23-BE51-9C7B-4766D84889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39398" y="35907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连接符 60">
              <a:extLst>
                <a:ext uri="{FF2B5EF4-FFF2-40B4-BE49-F238E27FC236}">
                  <a16:creationId id="{C1B4DD0B-12C4-B6A0-9943-44B56612091F}"/>
                </a:ext>
              </a:extLst>
            </p:cNvPr>
            <p:cNvCxnSpPr>
              <a:cxnSpLocks/>
            </p:cNvCxnSpPr>
            <p:nvPr/>
          </p:nvCxnSpPr>
          <p:spPr>
            <a:xfrm>
              <a:off x="6074941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>
              <a:extLst>
                <a:ext uri="{FF2B5EF4-FFF2-40B4-BE49-F238E27FC236}">
                  <a16:creationId id="{D9F1B0E6-721B-522D-8C9D-7B58CDD0FE99}"/>
                </a:ext>
              </a:extLst>
            </p:cNvPr>
            <p:cNvCxnSpPr>
              <a:cxnSpLocks/>
            </p:cNvCxnSpPr>
            <p:nvPr/>
          </p:nvCxnSpPr>
          <p:spPr>
            <a:xfrm>
              <a:off x="11733284" y="359233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>
              <a:extLst>
                <a:ext uri="{FF2B5EF4-FFF2-40B4-BE49-F238E27FC236}">
                  <a16:creationId id="{F3C9A988-2C5B-293E-009C-4C22CE4DA3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39398" y="342612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utoShape 2"/>
          <p:cNvSpPr/>
          <p:nvPr/>
        </p:nvSpPr>
        <p:spPr>
          <a:xfrm>
            <a:off x="524799" y="3694454"/>
            <a:ext cx="11208481" cy="270503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zh-CN" altLang="en-US" sz="62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ChillYunmoGothicBold"/>
              </a:rPr>
              <a:t>腾讯会议 UI 层架构</a:t>
            </a:r>
            <a:endParaRPr lang="en-US" altLang="zh-CN" sz="62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  <a:p>
            <a:pPr>
              <a:lnSpc>
                <a:spcPts val="7000"/>
              </a:lnSpc>
              <a:defRPr/>
            </a:pPr>
            <a:r>
              <a:rPr lang="en-US" altLang="zh-CN" sz="62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ChillYunmoGothicBold"/>
              </a:rPr>
              <a:t>UI Architecture Deep Dive</a:t>
            </a:r>
          </a:p>
          <a:p>
            <a:pPr>
              <a:lnSpc>
                <a:spcPts val="7000"/>
              </a:lnSpc>
              <a:defRPr/>
            </a:pPr>
            <a:r>
              <a:rPr lang="en-US" altLang="zh-CN" sz="62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内部技术分享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id="{BC170B34-4A13-6735-C30F-56AF1D5FAC87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id="{569459A1-D112-6EBA-6FBA-5D1165D6B156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TENCENT MEETING</a:t>
              </a:r>
              <a:r>
                <a:rPr lang="zh-CN" alt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/>
              </a:r>
              <a:r>
                <a:rPr lang="en-US" altLang="zh-CN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/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JetBrains Mono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id="{82278280-D815-9EFB-15CD-104DBD4B3A52}"/>
                </a:ext>
              </a:extLst>
            </p:cNvPr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2025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id="{8DB7939E-5293-6184-1F93-40AFB68BEB5E}"/>
                </a:ext>
              </a:extLst>
            </p:cNvPr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UI ARCH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id="{CB4BB6DB-9838-20C6-27C3-3D251855BBD2}"/>
              </a:ext>
            </a:extLst>
          </p:cNvPr>
          <p:cNvGrpSpPr/>
          <p:nvPr/>
        </p:nvGrpSpPr>
        <p:grpSpPr>
          <a:xfrm>
            <a:off x="6296904" y="2458343"/>
            <a:ext cx="5437675" cy="585457"/>
            <a:chOff x="6296904" y="2086306"/>
            <a:chExt cx="5437675" cy="585457"/>
          </a:xfrm>
        </p:grpSpPr>
        <p:sp>
          <p:nvSpPr>
            <p:cNvPr id="9" name="AutoShape 4">
              <a:extLst>
                <a:ext uri="{FF2B5EF4-FFF2-40B4-BE49-F238E27FC236}">
                  <a16:creationId id="{F0949F24-5985-E338-F0C3-6F0ECAC9D52F}"/>
                </a:ext>
              </a:extLst>
            </p:cNvPr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UI 层在系统中的定位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endParaRPr>
            </a:p>
          </p:txBody>
        </p:sp>
        <p:sp>
          <p:nvSpPr>
            <p:cNvPr id="10" name="AutoShape 4">
              <a:extLst>
                <a:ext uri="{FF2B5EF4-FFF2-40B4-BE49-F238E27FC236}">
                  <a16:creationId id="{8DF223B4-07E0-CEA1-B839-957F95B1F669}"/>
                </a:ext>
              </a:extLst>
            </p:cNvPr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SimHei"/>
                </a:rPr>
                <a:t>001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endParaRPr>
            </a:p>
          </p:txBody>
        </p:sp>
        <p:cxnSp>
          <p:nvCxnSpPr>
            <p:cNvPr id="17" name="直线连接符 16">
              <a:extLst>
                <a:ext uri="{FF2B5EF4-FFF2-40B4-BE49-F238E27FC236}">
                  <a16:creationId id="{759C4A03-D3AD-6D05-1EC9-F3E8379EA744}"/>
                </a:ext>
              </a:extLst>
            </p:cNvPr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>
            <a:extLst>
              <a:ext uri="{FF2B5EF4-FFF2-40B4-BE49-F238E27FC236}">
                <a16:creationId id="{2130F0B5-3E73-D18A-1521-03180D0145E8}"/>
              </a:ext>
            </a:extLst>
          </p:cNvPr>
          <p:cNvGrpSpPr/>
          <p:nvPr/>
        </p:nvGrpSpPr>
        <p:grpSpPr>
          <a:xfrm>
            <a:off x="6296904" y="3345341"/>
            <a:ext cx="5437675" cy="585457"/>
            <a:chOff x="6296904" y="2086306"/>
            <a:chExt cx="5437675" cy="585457"/>
          </a:xfrm>
        </p:grpSpPr>
        <p:sp>
          <p:nvSpPr>
            <p:cNvPr id="20" name="AutoShape 4">
              <a:extLst>
                <a:ext uri="{FF2B5EF4-FFF2-40B4-BE49-F238E27FC236}">
                  <a16:creationId id="{808D2D52-C3E2-73A5-D402-64D0C0104B69}"/>
                </a:ext>
              </a:extLst>
            </p:cNvPr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桌面端 Qt 架构与双进程模型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endParaRPr>
            </a:p>
          </p:txBody>
        </p:sp>
        <p:sp>
          <p:nvSpPr>
            <p:cNvPr id="21" name="AutoShape 4">
              <a:extLst>
                <a:ext uri="{FF2B5EF4-FFF2-40B4-BE49-F238E27FC236}">
                  <a16:creationId id="{2A1C39EB-9118-9003-93DC-480EA33B409E}"/>
                </a:ext>
              </a:extLst>
            </p:cNvPr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SimHei"/>
                </a:rPr>
                <a:t>002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endParaRPr>
            </a:p>
          </p:txBody>
        </p:sp>
        <p:cxnSp>
          <p:nvCxnSpPr>
            <p:cNvPr id="23" name="直线连接符 22">
              <a:extLst>
                <a:ext uri="{FF2B5EF4-FFF2-40B4-BE49-F238E27FC236}">
                  <a16:creationId id="{0F791CA2-B4DA-F22B-EF68-8854C4C441D9}"/>
                </a:ext>
              </a:extLst>
            </p:cNvPr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id="{2051B058-8058-3146-96BE-F61A0BFDAC6A}"/>
              </a:ext>
            </a:extLst>
          </p:cNvPr>
          <p:cNvGrpSpPr/>
          <p:nvPr/>
        </p:nvGrpSpPr>
        <p:grpSpPr>
          <a:xfrm>
            <a:off x="6296904" y="4232339"/>
            <a:ext cx="5437675" cy="585457"/>
            <a:chOff x="6296904" y="2086306"/>
            <a:chExt cx="5437675" cy="585457"/>
          </a:xfrm>
        </p:grpSpPr>
        <p:sp>
          <p:nvSpPr>
            <p:cNvPr id="29" name="AutoShape 4">
              <a:extLst>
                <a:ext uri="{FF2B5EF4-FFF2-40B4-BE49-F238E27FC236}">
                  <a16:creationId id="{76A3AC50-E763-6E4D-A6AD-4A411AE35E8B}"/>
                </a:ext>
              </a:extLst>
            </p:cNvPr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SimHei"/>
                </a:rPr>
                <a:t>多端技术栈与组件化设计</a:t>
              </a:r>
            </a:p>
          </p:txBody>
        </p:sp>
        <p:sp>
          <p:nvSpPr>
            <p:cNvPr id="30" name="AutoShape 4">
              <a:extLst>
                <a:ext uri="{FF2B5EF4-FFF2-40B4-BE49-F238E27FC236}">
                  <a16:creationId id="{CED8087A-FD78-B78B-FFBF-D9CECEF9B264}"/>
                </a:ext>
              </a:extLst>
            </p:cNvPr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SimHei"/>
                </a:rPr>
                <a:t>003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endParaRPr>
            </a:p>
          </p:txBody>
        </p:sp>
        <p:cxnSp>
          <p:nvCxnSpPr>
            <p:cNvPr id="32" name="直线连接符 31">
              <a:extLst>
                <a:ext uri="{FF2B5EF4-FFF2-40B4-BE49-F238E27FC236}">
                  <a16:creationId id="{02F0D38B-DCBE-2BAD-0B1F-BDBE88B09B40}"/>
                </a:ext>
              </a:extLst>
            </p:cNvPr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id="{7EBFA1EC-73D8-5AC9-F9B5-E5EE4CA76101}"/>
              </a:ext>
            </a:extLst>
          </p:cNvPr>
          <p:cNvGrpSpPr/>
          <p:nvPr/>
        </p:nvGrpSpPr>
        <p:grpSpPr>
          <a:xfrm>
            <a:off x="6296904" y="5119339"/>
            <a:ext cx="5437675" cy="585457"/>
            <a:chOff x="6296904" y="2086306"/>
            <a:chExt cx="5437675" cy="585457"/>
          </a:xfrm>
        </p:grpSpPr>
        <p:sp>
          <p:nvSpPr>
            <p:cNvPr id="38" name="AutoShape 4">
              <a:extLst>
                <a:ext uri="{FF2B5EF4-FFF2-40B4-BE49-F238E27FC236}">
                  <a16:creationId id="{9BCDDA64-556B-3A40-E60C-C84C51248CD0}"/>
                </a:ext>
              </a:extLst>
            </p:cNvPr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状态管理与关键设计亮点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endParaRPr>
            </a:p>
          </p:txBody>
        </p:sp>
        <p:sp>
          <p:nvSpPr>
            <p:cNvPr id="39" name="AutoShape 4">
              <a:extLst>
                <a:ext uri="{FF2B5EF4-FFF2-40B4-BE49-F238E27FC236}">
                  <a16:creationId id="{193E80F7-18B6-D21A-3BE1-C774719DE225}"/>
                </a:ext>
              </a:extLst>
            </p:cNvPr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SimHei"/>
                </a:rPr>
                <a:t>004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endParaRPr>
            </a:p>
          </p:txBody>
        </p:sp>
        <p:cxnSp>
          <p:nvCxnSpPr>
            <p:cNvPr id="41" name="直线连接符 40">
              <a:extLst>
                <a:ext uri="{FF2B5EF4-FFF2-40B4-BE49-F238E27FC236}">
                  <a16:creationId id="{002079F8-2DCD-9A60-85DD-72F2903D16CE}"/>
                </a:ext>
              </a:extLst>
            </p:cNvPr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id="{DB6EFA9D-3594-1092-B261-6844C09685AA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id="{C7F46DDF-DCCE-5DC5-26DD-BF864D1CBC74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TENCENT MEETING</a:t>
              </a:r>
              <a:r>
                <a:rPr lang="zh-CN" alt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id="{A3779FDC-2C21-78DA-D5DA-6E5FA2AC6312}"/>
                </a:ext>
              </a:extLst>
            </p:cNvPr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2025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id="{1CF940C9-B263-B1F5-82D6-F87E478E7360}"/>
                </a:ext>
              </a:extLst>
            </p:cNvPr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CONTENT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id="{0D519639-E371-3D6E-B73E-2F14B73EC3BA}"/>
              </a:ext>
            </a:extLst>
          </p:cNvPr>
          <p:cNvSpPr/>
          <p:nvPr/>
        </p:nvSpPr>
        <p:spPr>
          <a:xfrm>
            <a:off x="524800" y="3013007"/>
            <a:ext cx="5115514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ChillYunmoGothicBold"/>
              </a:rPr>
              <a:t>目录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ChillYunmoGothicBold"/>
            </a:endParaRPr>
          </a:p>
          <a:p>
            <a:pPr>
              <a:defRPr/>
            </a:pPr>
            <a:r>
              <a:rPr lang="en-US" altLang="zh-CN" sz="40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CONTENTS</a:t>
            </a:r>
          </a:p>
        </p:txBody>
      </p:sp>
      <p:sp>
        <p:nvSpPr>
          <p:cNvPr id="16" name="AutoShape 2">
            <a:extLst>
              <a:ext uri="{FF2B5EF4-FFF2-40B4-BE49-F238E27FC236}">
                <a16:creationId id="{3BDD129E-F413-FFDF-12E0-F8CDCC74BE06}"/>
              </a:ext>
            </a:extLst>
          </p:cNvPr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TMUI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id="{88CBE3E2-9009-87CF-D217-4DA239458CEA}"/>
              </a:ext>
            </a:extLst>
          </p:cNvPr>
          <p:cNvGrpSpPr/>
          <p:nvPr/>
        </p:nvGrpSpPr>
        <p:grpSpPr>
          <a:xfrm>
            <a:off x="6296904" y="1571345"/>
            <a:ext cx="5437675" cy="585457"/>
            <a:chOff x="6296904" y="2086306"/>
            <a:chExt cx="5437675" cy="585457"/>
          </a:xfrm>
        </p:grpSpPr>
        <p:sp>
          <p:nvSpPr>
            <p:cNvPr id="47" name="AutoShape 4">
              <a:extLst>
                <a:ext uri="{FF2B5EF4-FFF2-40B4-BE49-F238E27FC236}">
                  <a16:creationId id="{26F34F07-9C06-78A8-62FD-F8663EA9FF1C}"/>
                </a:ext>
              </a:extLst>
            </p:cNvPr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概述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endParaRPr>
            </a:p>
          </p:txBody>
        </p:sp>
        <p:sp>
          <p:nvSpPr>
            <p:cNvPr id="48" name="AutoShape 4">
              <a:extLst>
                <a:ext uri="{FF2B5EF4-FFF2-40B4-BE49-F238E27FC236}">
                  <a16:creationId id="{37EF19A5-8C91-5873-66BF-C44AAFAF0A04}"/>
                </a:ext>
              </a:extLst>
            </p:cNvPr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SimHei"/>
                </a:rPr>
                <a:t>000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endParaRPr>
            </a:p>
          </p:txBody>
        </p:sp>
        <p:cxnSp>
          <p:nvCxnSpPr>
            <p:cNvPr id="49" name="直线连接符 48">
              <a:extLst>
                <a:ext uri="{FF2B5EF4-FFF2-40B4-BE49-F238E27FC236}">
                  <a16:creationId id="{38879052-DDAB-A714-D9B3-DCF86D90C265}"/>
                </a:ext>
              </a:extLst>
            </p:cNvPr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val="4071342708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41A67A09-1B65-03F8-DFA5-D95292785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id="{0E28A0A2-E3AD-EC7B-265C-A3BE49E0A246}"/>
              </a:ext>
            </a:extLst>
          </p:cNvPr>
          <p:cNvGrpSpPr/>
          <p:nvPr/>
        </p:nvGrpSpPr>
        <p:grpSpPr>
          <a:xfrm>
            <a:off x="-239398" y="-1280369"/>
            <a:ext cx="12667766" cy="9418738"/>
            <a:chOff x="-239398" y="-1280369"/>
            <a:chExt cx="12667766" cy="9418738"/>
          </a:xfrm>
        </p:grpSpPr>
        <p:cxnSp>
          <p:nvCxnSpPr>
            <p:cNvPr id="12" name="直线连接符 11">
              <a:extLst>
                <a:ext uri="{FF2B5EF4-FFF2-40B4-BE49-F238E27FC236}">
                  <a16:creationId id="{839AFF12-0A58-74B2-1A7A-128EC904BC25}"/>
                </a:ext>
              </a:extLst>
            </p:cNvPr>
            <p:cNvCxnSpPr>
              <a:cxnSpLocks/>
            </p:cNvCxnSpPr>
            <p:nvPr/>
          </p:nvCxnSpPr>
          <p:spPr>
            <a:xfrm>
              <a:off x="11945342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id="{C9E36137-8EE8-19CB-D180-267B1D653EE0}"/>
                </a:ext>
              </a:extLst>
            </p:cNvPr>
            <p:cNvCxnSpPr>
              <a:cxnSpLocks/>
            </p:cNvCxnSpPr>
            <p:nvPr/>
          </p:nvCxnSpPr>
          <p:spPr>
            <a:xfrm>
              <a:off x="243628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id="{DBBAA384-E987-D13A-057E-E4FC8C9993A8}"/>
                </a:ext>
              </a:extLst>
            </p:cNvPr>
            <p:cNvCxnSpPr>
              <a:cxnSpLocks/>
            </p:cNvCxnSpPr>
            <p:nvPr/>
          </p:nvCxnSpPr>
          <p:spPr>
            <a:xfrm>
              <a:off x="524797" y="385358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id="{A2E89A7F-34B7-7C9A-0949-C5188AF012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13761" y="6442064"/>
              <a:ext cx="12642129" cy="26232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>
              <a:extLst>
                <a:ext uri="{FF2B5EF4-FFF2-40B4-BE49-F238E27FC236}">
                  <a16:creationId id="{9310D08C-D845-9086-FC35-1D0925C659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39398" y="35907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id="{31504B1D-2966-D185-839D-0606FCB315AE}"/>
                </a:ext>
              </a:extLst>
            </p:cNvPr>
            <p:cNvCxnSpPr>
              <a:cxnSpLocks/>
            </p:cNvCxnSpPr>
            <p:nvPr/>
          </p:nvCxnSpPr>
          <p:spPr>
            <a:xfrm>
              <a:off x="6074941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id="{71797857-1480-3F87-1268-E5D702FAABCF}"/>
                </a:ext>
              </a:extLst>
            </p:cNvPr>
            <p:cNvCxnSpPr>
              <a:cxnSpLocks/>
            </p:cNvCxnSpPr>
            <p:nvPr/>
          </p:nvCxnSpPr>
          <p:spPr>
            <a:xfrm>
              <a:off x="11733284" y="359233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id="{0A451943-7CC8-0542-FD5D-36DB3E7C51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39398" y="342612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id="{091A796B-1CBA-04CD-858A-023EAF8BD6FD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id="{88B10F02-B936-AC5E-580A-E78F352A6F64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TENCENT MEETING</a:t>
              </a:r>
              <a:r>
                <a:rPr lang="zh-CN" alt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id="{E6B22B51-1FBE-97A9-73DE-8389EEF5053B}"/>
                </a:ext>
              </a:extLst>
            </p:cNvPr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2025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id="{75109739-41F1-D4D0-12E2-3A5EB0BD2E8E}"/>
                </a:ext>
              </a:extLst>
            </p:cNvPr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id="{61B2AFE2-59BC-609C-9CFE-34C0E6451E7A}"/>
              </a:ext>
            </a:extLst>
          </p:cNvPr>
          <p:cNvSpPr/>
          <p:nvPr/>
        </p:nvSpPr>
        <p:spPr>
          <a:xfrm>
            <a:off x="524800" y="2858627"/>
            <a:ext cx="4096186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001</a:t>
            </a:r>
          </a:p>
          <a:p>
            <a:pPr>
              <a:defRPr/>
            </a:pPr>
            <a:r>
              <a:rPr lang="en-US" altLang="zh-CN" sz="40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CHAPTER</a:t>
            </a:r>
          </a:p>
        </p:txBody>
      </p:sp>
      <p:sp>
        <p:nvSpPr>
          <p:cNvPr id="16" name="AutoShape 2">
            <a:extLst>
              <a:ext uri="{FF2B5EF4-FFF2-40B4-BE49-F238E27FC236}">
                <a16:creationId id="{4D217ACB-36FC-F32C-4D3C-6CCCCA60DA24}"/>
              </a:ext>
            </a:extLst>
          </p:cNvPr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EDF7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TMUI</a:t>
            </a:r>
            <a:endParaRPr lang="en-US" sz="800" dirty="0">
              <a:solidFill>
                <a:srgbClr val="EDF7FF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id="{148C2953-C16A-1029-ECC3-FC77F7D40643}"/>
              </a:ext>
            </a:extLst>
          </p:cNvPr>
          <p:cNvSpPr/>
          <p:nvPr/>
        </p:nvSpPr>
        <p:spPr>
          <a:xfrm>
            <a:off x="6162083" y="2858627"/>
            <a:ext cx="5115515" cy="123110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定位:</a:t>
            </a:r>
            <a:r>
              <a:rPr lang="en-US" altLang="zh-CN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/>
            </a: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/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UI 层的职责边界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</p:spTree>
    <p:extLst>
      <p:ext uri="{BB962C8B-B14F-4D97-AF65-F5344CB8AC3E}">
        <p14:creationId val="3856848080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93FE6BAB-3F6D-3858-0C12-8020D8A71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id="{F5E2F8DF-278D-0985-AED6-7DE2D0B52057}"/>
              </a:ext>
            </a:extLst>
          </p:cNvPr>
          <p:cNvSpPr/>
          <p:nvPr/>
        </p:nvSpPr>
        <p:spPr>
          <a:xfrm>
            <a:off x="7843520" y="1"/>
            <a:ext cx="4348478" cy="2091765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id="{E3262688-7525-8180-1C2B-656E91ED8C6A}"/>
              </a:ext>
            </a:extLst>
          </p:cNvPr>
          <p:cNvSpPr/>
          <p:nvPr/>
        </p:nvSpPr>
        <p:spPr>
          <a:xfrm>
            <a:off x="6257363" y="2091766"/>
            <a:ext cx="5934637" cy="4766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id="{6A8CAECE-A818-BFA1-4BDB-09842B587ABD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id="{349CC99D-B015-CF71-099E-B5A742DF5EF7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TENCENT MEETING</a:t>
              </a:r>
              <a:r>
                <a:rPr lang="zh-CN" alt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id="{A0C02DDB-44C8-4243-1FAD-40D15F144B20}"/>
                </a:ext>
              </a:extLst>
            </p:cNvPr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2025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>
              <a:extLst>
                <a:ext uri="{FF2B5EF4-FFF2-40B4-BE49-F238E27FC236}">
                  <a16:creationId id="{2402903B-91AB-6808-7A79-72041E800495}"/>
                </a:ext>
              </a:extLst>
            </p:cNvPr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F7FAFF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F7FA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>
            <a:extLst>
              <a:ext uri="{FF2B5EF4-FFF2-40B4-BE49-F238E27FC236}">
                <a16:creationId id="{DE27CCE9-3DF6-228B-E126-786EE07D4B67}"/>
              </a:ext>
            </a:extLst>
          </p:cNvPr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TMUI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id="{033C03B7-3581-B932-404B-C1D30AEE7D9A}"/>
              </a:ext>
            </a:extLst>
          </p:cNvPr>
          <p:cNvSpPr/>
          <p:nvPr/>
        </p:nvSpPr>
        <p:spPr>
          <a:xfrm>
            <a:off x="524799" y="1206344"/>
            <a:ext cx="4495436" cy="123110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UI 层在腾讯会议中的角色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/>
            </a:r>
            <a:r>
              <a:rPr lang="zh-CN" altLang="en-US" sz="4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/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id="{FC893A53-9E6D-625B-8BD9-8C604AE52C90}"/>
              </a:ext>
            </a:extLst>
          </p:cNvPr>
          <p:cNvSpPr txBox="1"/>
          <p:nvPr/>
        </p:nvSpPr>
        <p:spPr>
          <a:xfrm>
            <a:off x="524797" y="4237318"/>
            <a:ext cx="3077045" cy="16004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UI 层不直接处理音视频编解码，而是通过 IPC/SDK 接口驱动媒体引擎。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职责：页面流转、控件状态、布局切换、主题、无障碍、多端适配。</a:t>
            </a: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不负责：RTP 流收发、降噪、混流、网络抗丢包（在 TRTC媒体 SDK 层）。</a:t>
            </a: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典型解耦模型：客户端 UI 层 → 本地渲染窗口层 → 媒体 SDK（IPC）→ 云端 TRTC。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id="{E880D043-9CC6-2424-3BC3-FD305067A781}"/>
              </a:ext>
            </a:extLst>
          </p:cNvPr>
          <p:cNvSpPr txBox="1"/>
          <p:nvPr/>
        </p:nvSpPr>
        <p:spPr>
          <a:xfrm>
            <a:off x="9817507" y="1206343"/>
            <a:ext cx="191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400" b="1" i="1" dirty="0">
                <a:solidFill>
                  <a:srgbClr val="F7FA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SimHei"/>
              </a:rPr>
              <a:t>OVERVIEW</a:t>
            </a:r>
            <a:endParaRPr lang="en-US" altLang="zh-CN" sz="1400" b="1" i="1" u="none" strike="noStrike" dirty="0">
              <a:solidFill>
                <a:srgbClr val="F7FA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SimHei"/>
            </a:endParaRPr>
          </a:p>
        </p:txBody>
      </p:sp>
      <p:pic>
        <p:nvPicPr>
          <p:cNvPr id="12" name="图片 11" descr="Story pin image">
            <a:extLst>
              <a:ext uri="{FF2B5EF4-FFF2-40B4-BE49-F238E27FC236}">
                <a16:creationId id="{90812F0C-53B2-E52C-29FA-AF14163AB6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02" b="9302"/>
          <a:stretch>
            <a:fillRect/>
          </a:stretch>
        </p:blipFill>
        <p:spPr>
          <a:xfrm rot="16200000">
            <a:off x="7104464" y="1498221"/>
            <a:ext cx="3781720" cy="5475921"/>
          </a:xfrm>
          <a:prstGeom prst="rect">
            <a:avLst/>
          </a:prstGeom>
        </p:spPr>
      </p:pic>
    </p:spTree>
    <p:extLst>
      <p:ext uri="{BB962C8B-B14F-4D97-AF65-F5344CB8AC3E}">
        <p14:creationId val="4104660237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E57926B1-3A5C-2974-4507-B1CEEA20A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id="{13DF8D8A-E319-1B31-E81B-EDE5967C83F4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id="{F7E88966-50BA-7581-02D9-B9BF5754D140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TENCENT MEETING</a:t>
              </a:r>
              <a:r>
                <a:rPr lang="zh-CN" alt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id="{C1CB1B52-7E8E-2147-D901-37766426A2CB}"/>
                </a:ext>
              </a:extLst>
            </p:cNvPr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2025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>
              <a:extLst>
                <a:ext uri="{FF2B5EF4-FFF2-40B4-BE49-F238E27FC236}">
                  <a16:creationId id="{D741994B-28F4-C2EF-16FA-6600E26EB274}"/>
                </a:ext>
              </a:extLst>
            </p:cNvPr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>
            <a:extLst>
              <a:ext uri="{FF2B5EF4-FFF2-40B4-BE49-F238E27FC236}">
                <a16:creationId id="{4686FEEB-4C3D-2391-A642-0A5A0CDB9A13}"/>
              </a:ext>
            </a:extLst>
          </p:cNvPr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TMUI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id="{87ADA023-8933-601D-27C0-7FA9E4B62BFF}"/>
              </a:ext>
            </a:extLst>
          </p:cNvPr>
          <p:cNvSpPr/>
          <p:nvPr/>
        </p:nvSpPr>
        <p:spPr>
          <a:xfrm>
            <a:off x="524799" y="1206344"/>
            <a:ext cx="4495436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四层分层架构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id="{BC0DC4D3-A439-821C-39F8-7B04CC498C79}"/>
              </a:ext>
            </a:extLst>
          </p:cNvPr>
          <p:cNvSpPr/>
          <p:nvPr/>
        </p:nvSpPr>
        <p:spPr>
          <a:xfrm>
            <a:off x="4364518" y="2302349"/>
            <a:ext cx="3529043" cy="1921967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id="{E9DC804E-F5C9-E6A6-98CB-C4931525A552}"/>
              </a:ext>
            </a:extLst>
          </p:cNvPr>
          <p:cNvSpPr/>
          <p:nvPr/>
        </p:nvSpPr>
        <p:spPr>
          <a:xfrm>
            <a:off x="8204241" y="2302349"/>
            <a:ext cx="3529043" cy="1921967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id="{C8AC2FA6-83AC-2BC6-6F1D-15BE88BFFABC}"/>
              </a:ext>
            </a:extLst>
          </p:cNvPr>
          <p:cNvSpPr txBox="1"/>
          <p:nvPr/>
        </p:nvSpPr>
        <p:spPr>
          <a:xfrm>
            <a:off x="524796" y="4520102"/>
            <a:ext cx="3319001" cy="892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应用外壳层：登录态、路由、窗口管理、多实例、系统托盘、深链唤起。</a:t>
            </a:r>
            <a:endParaRPr lang="en-US" altLang="zh-CN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基础组件：按钮、弹层、Toast、Dialog、列表、网格视图。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id="{9E854F89-0346-8338-CB34-70BA34D0CE1B}"/>
              </a:ext>
            </a:extLst>
          </p:cNvPr>
          <p:cNvSpPr txBox="1"/>
          <p:nvPr/>
        </p:nvSpPr>
        <p:spPr>
          <a:xfrm>
            <a:off x="9817507" y="1206343"/>
            <a:ext cx="191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4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SimHei"/>
              </a:rPr>
              <a:t>LAYERED ARCH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Sim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id="{FF0B1F1B-5230-56DB-9C7C-5018AB6902B6}"/>
              </a:ext>
            </a:extLst>
          </p:cNvPr>
          <p:cNvSpPr/>
          <p:nvPr/>
        </p:nvSpPr>
        <p:spPr>
          <a:xfrm>
            <a:off x="524796" y="2302349"/>
            <a:ext cx="3529043" cy="1921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id="{0BF70AAF-1877-9EF6-FD99-78814BBD4AA2}"/>
              </a:ext>
            </a:extLst>
          </p:cNvPr>
          <p:cNvSpPr txBox="1"/>
          <p:nvPr/>
        </p:nvSpPr>
        <p:spPr>
          <a:xfrm>
            <a:off x="734837" y="3077508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SimHei"/>
              </a:rPr>
              <a:t>" 应用外壳 + 组件 "</a:t>
            </a:r>
            <a:endParaRPr lang="en-US" altLang="zh-CN" sz="2000" u="none" strike="noStrike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SimHei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id="{8A0F14F7-ABBC-7841-C9C1-DD263A3F5C9F}"/>
              </a:ext>
            </a:extLst>
          </p:cNvPr>
          <p:cNvSpPr txBox="1"/>
          <p:nvPr/>
        </p:nvSpPr>
        <p:spPr>
          <a:xfrm>
            <a:off x="4650429" y="3077508"/>
            <a:ext cx="30305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SimHei"/>
              </a:rPr>
              <a:t>" 状态与编排 "</a:t>
            </a:r>
            <a:endParaRPr lang="en-US" altLang="zh-CN" sz="2000" u="none" strike="noStrike" dirty="0">
              <a:solidFill>
                <a:schemeClr val="bg1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SimHei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id="{A6F804E5-B83D-1C63-554A-D1EA2E5FCCAD}"/>
              </a:ext>
            </a:extLst>
          </p:cNvPr>
          <p:cNvSpPr txBox="1"/>
          <p:nvPr/>
        </p:nvSpPr>
        <p:spPr>
          <a:xfrm>
            <a:off x="8512233" y="3077508"/>
            <a:ext cx="29449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SimHei"/>
              </a:rPr>
              <a:t>" 桥接与开放 "</a:t>
            </a:r>
            <a:endParaRPr lang="en-US" altLang="zh-CN" sz="2000" u="none" strike="noStrike" dirty="0">
              <a:solidFill>
                <a:schemeClr val="bg1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SimHe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id="{18208EA4-124B-596C-2EAB-03DEB4100B19}"/>
              </a:ext>
            </a:extLst>
          </p:cNvPr>
          <p:cNvSpPr txBox="1"/>
          <p:nvPr/>
        </p:nvSpPr>
        <p:spPr>
          <a:xfrm>
            <a:off x="4364518" y="4520102"/>
            <a:ext cx="3286508" cy="7078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状态编排层：视图状态驱动 UI，会中状态机管理生命周期。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跨端状态同步：参会者列表、举手、字幕由服务端事件下发。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id="{794DD7EC-702C-A512-BCB1-5FE9023BDD6A}"/>
              </a:ext>
            </a:extLst>
          </p:cNvPr>
          <p:cNvSpPr txBox="1"/>
          <p:nvPr/>
        </p:nvSpPr>
        <p:spPr>
          <a:xfrm>
            <a:off x="8204241" y="4520102"/>
            <a:ext cx="325401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桥接层：UI 通过 Socket + 异步任务队列与 SDK 通信，双进程隔离。</a:t>
            </a:r>
          </a:p>
        </p:txBody>
      </p:sp>
    </p:spTree>
    <p:extLst>
      <p:ext uri="{BB962C8B-B14F-4D97-AF65-F5344CB8AC3E}">
        <p14:creationId val="16450630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71707960-1076-196D-85D7-AAAB4214D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id="{7723CA57-ECC4-D187-4B96-034E9D82C7B5}"/>
              </a:ext>
            </a:extLst>
          </p:cNvPr>
          <p:cNvGrpSpPr/>
          <p:nvPr/>
        </p:nvGrpSpPr>
        <p:grpSpPr>
          <a:xfrm>
            <a:off x="-239398" y="-1280369"/>
            <a:ext cx="12667766" cy="9418738"/>
            <a:chOff x="-239398" y="-1280369"/>
            <a:chExt cx="12667766" cy="9418738"/>
          </a:xfrm>
        </p:grpSpPr>
        <p:cxnSp>
          <p:nvCxnSpPr>
            <p:cNvPr id="12" name="直线连接符 11">
              <a:extLst>
                <a:ext uri="{FF2B5EF4-FFF2-40B4-BE49-F238E27FC236}">
                  <a16:creationId id="{89E95F72-1D2A-FB23-4C0B-4649DAC7A0CE}"/>
                </a:ext>
              </a:extLst>
            </p:cNvPr>
            <p:cNvCxnSpPr>
              <a:cxnSpLocks/>
            </p:cNvCxnSpPr>
            <p:nvPr/>
          </p:nvCxnSpPr>
          <p:spPr>
            <a:xfrm>
              <a:off x="11945342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id="{1D14FBE4-9C6D-4D8A-6EC9-891A3BE1C976}"/>
                </a:ext>
              </a:extLst>
            </p:cNvPr>
            <p:cNvCxnSpPr>
              <a:cxnSpLocks/>
            </p:cNvCxnSpPr>
            <p:nvPr/>
          </p:nvCxnSpPr>
          <p:spPr>
            <a:xfrm>
              <a:off x="243628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id="{38EEA1E7-C802-E83F-8AF7-9B6B00AFBD15}"/>
                </a:ext>
              </a:extLst>
            </p:cNvPr>
            <p:cNvCxnSpPr>
              <a:cxnSpLocks/>
            </p:cNvCxnSpPr>
            <p:nvPr/>
          </p:nvCxnSpPr>
          <p:spPr>
            <a:xfrm>
              <a:off x="524797" y="385358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id="{28D26822-7B47-5B9C-8D99-DA7FFA076B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13761" y="6442064"/>
              <a:ext cx="12642129" cy="26232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>
              <a:extLst>
                <a:ext uri="{FF2B5EF4-FFF2-40B4-BE49-F238E27FC236}">
                  <a16:creationId id="{4994DDC5-E81B-A658-B450-06530A51F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39398" y="35907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id="{4F002D31-80EA-E8FD-E58F-1094B56FFCB6}"/>
                </a:ext>
              </a:extLst>
            </p:cNvPr>
            <p:cNvCxnSpPr>
              <a:cxnSpLocks/>
            </p:cNvCxnSpPr>
            <p:nvPr/>
          </p:nvCxnSpPr>
          <p:spPr>
            <a:xfrm>
              <a:off x="6074941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id="{274EBF9E-49D5-5BF6-19D9-5401E202A221}"/>
                </a:ext>
              </a:extLst>
            </p:cNvPr>
            <p:cNvCxnSpPr>
              <a:cxnSpLocks/>
            </p:cNvCxnSpPr>
            <p:nvPr/>
          </p:nvCxnSpPr>
          <p:spPr>
            <a:xfrm>
              <a:off x="11733284" y="359233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>
              <a:extLst>
                <a:ext uri="{FF2B5EF4-FFF2-40B4-BE49-F238E27FC236}">
                  <a16:creationId id="{BF18ADA7-CE4F-C541-C9FD-75444EAC69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39398" y="342612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id="{D1BB74FE-6152-A713-3CE6-58BB00F8A0A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id="{52A9C22D-418D-15B9-C139-19B6F543BAAD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EDF7FF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TENCENT MEETING</a:t>
              </a:r>
              <a:r>
                <a:rPr lang="zh-CN" altLang="en-US" sz="800" dirty="0">
                  <a:solidFill>
                    <a:srgbClr val="EDF7FF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r>
                <a:rPr lang="en-US" altLang="zh-CN" sz="800" dirty="0">
                  <a:solidFill>
                    <a:srgbClr val="EDF7FF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endParaRPr lang="en-US" sz="800" dirty="0">
                <a:solidFill>
                  <a:srgbClr val="EDF7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id="{80267E5F-6A39-4E9C-C395-3B130B794E52}"/>
                </a:ext>
              </a:extLst>
            </p:cNvPr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EDF7FF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2025</a:t>
              </a:r>
              <a:endParaRPr lang="en-US" sz="800" dirty="0">
                <a:solidFill>
                  <a:srgbClr val="EDF7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id="{45539B99-4FEF-B70C-7C4C-AF790E99E5F8}"/>
                </a:ext>
              </a:extLst>
            </p:cNvPr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EDF7FF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EDF7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id="{0A5BF864-FA00-C6E3-2204-4AF4A58F0221}"/>
              </a:ext>
            </a:extLst>
          </p:cNvPr>
          <p:cNvSpPr/>
          <p:nvPr/>
        </p:nvSpPr>
        <p:spPr>
          <a:xfrm>
            <a:off x="524800" y="2858627"/>
            <a:ext cx="4096186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002</a:t>
            </a:r>
          </a:p>
          <a:p>
            <a:pPr>
              <a:defRPr/>
            </a:pPr>
            <a:r>
              <a:rPr lang="en-US" altLang="zh-CN" sz="40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CHAPTER</a:t>
            </a:r>
          </a:p>
        </p:txBody>
      </p:sp>
      <p:sp>
        <p:nvSpPr>
          <p:cNvPr id="16" name="AutoShape 2">
            <a:extLst>
              <a:ext uri="{FF2B5EF4-FFF2-40B4-BE49-F238E27FC236}">
                <a16:creationId id="{2973A0C8-EB86-A2D9-F32C-41E8E7A08756}"/>
              </a:ext>
            </a:extLst>
          </p:cNvPr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EDF7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TMUI</a:t>
            </a:r>
            <a:endParaRPr lang="en-US" sz="800" dirty="0">
              <a:solidFill>
                <a:srgbClr val="EDF7FF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id="{50503D22-C4B8-E6A5-4DAA-9015A560B2B3}"/>
              </a:ext>
            </a:extLst>
          </p:cNvPr>
          <p:cNvSpPr/>
          <p:nvPr/>
        </p:nvSpPr>
        <p:spPr>
          <a:xfrm>
            <a:off x="6162083" y="2858627"/>
            <a:ext cx="5115515" cy="123110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桌面端: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Qt 架构与双进程模型</a:t>
            </a:r>
          </a:p>
        </p:txBody>
      </p:sp>
    </p:spTree>
    <p:extLst>
      <p:ext uri="{BB962C8B-B14F-4D97-AF65-F5344CB8AC3E}">
        <p14:creationId val="1996917494"/>
      </p:ext>
    </p:extLst>
  </p:cSld>
  <p:clrMapOvr>
    <a:masterClrMapping/>
  </p:clrMapOvr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E648A593-A99C-D2FE-D77C-36E5F2C8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id="{9FAC6FDF-E8F2-2C50-CFD5-A9E92A891DEB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id="{6632C352-CB58-9269-91D5-FF12D47E0F97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TENCENT MEETING</a:t>
              </a:r>
              <a:r>
                <a:rPr lang="zh-CN" alt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id="{3B04F1DF-1ABD-DF2B-33F8-A8CA3C8F1268}"/>
                </a:ext>
              </a:extLst>
            </p:cNvPr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2025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>
              <a:extLst>
                <a:ext uri="{FF2B5EF4-FFF2-40B4-BE49-F238E27FC236}">
                  <a16:creationId id="{4D641233-D71F-5A17-2604-1D9587D88B65}"/>
                </a:ext>
              </a:extLst>
            </p:cNvPr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>
            <a:extLst>
              <a:ext uri="{FF2B5EF4-FFF2-40B4-BE49-F238E27FC236}">
                <a16:creationId id="{CB1B5DA2-304D-5777-882F-5473F98F5090}"/>
              </a:ext>
            </a:extLst>
          </p:cNvPr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TMUI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id="{E89CED06-68D7-42C2-94E3-78AB3BA2CBF2}"/>
              </a:ext>
            </a:extLst>
          </p:cNvPr>
          <p:cNvSpPr/>
          <p:nvPr/>
        </p:nvSpPr>
        <p:spPr>
          <a:xfrm>
            <a:off x="524799" y="1206344"/>
            <a:ext cx="4495436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桌面端技术选型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id="{FC096C41-32D4-6372-4BDA-66DF1C2886E3}"/>
              </a:ext>
            </a:extLst>
          </p:cNvPr>
          <p:cNvSpPr txBox="1"/>
          <p:nvPr/>
        </p:nvSpPr>
        <p:spPr>
          <a:xfrm>
            <a:off x="524796" y="4493086"/>
            <a:ext cx="3319001" cy="584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SimHei"/>
              </a:rPr>
              <a:t>核心框架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Qt/C++ + QML 跨平台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id="{FC5C973B-0ECD-9FA3-5034-2E7AFF868A79}"/>
              </a:ext>
            </a:extLst>
          </p:cNvPr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SimHei"/>
              </a:rPr>
              <a:t>DESKTOP STACK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Sim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id="{2125DF3E-B8DB-3650-7A6B-29E1D1EACC2A}"/>
              </a:ext>
            </a:extLst>
          </p:cNvPr>
          <p:cNvSpPr/>
          <p:nvPr/>
        </p:nvSpPr>
        <p:spPr>
          <a:xfrm>
            <a:off x="547200" y="2302349"/>
            <a:ext cx="3480320" cy="1921967"/>
          </a:xfrm>
          <a:prstGeom prst="rect">
            <a:avLst/>
          </a:prstGeom>
          <a:pattFill prst="ltDnDiag">
            <a:fgClr>
              <a:srgbClr val="0A84FF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id="{FB8037DE-D548-66D6-6B81-0FF8A64DC8EB}"/>
              </a:ext>
            </a:extLst>
          </p:cNvPr>
          <p:cNvSpPr txBox="1"/>
          <p:nvPr/>
        </p:nvSpPr>
        <p:spPr>
          <a:xfrm>
            <a:off x="4365276" y="4493086"/>
            <a:ext cx="3319001" cy="584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SimHei"/>
              </a:rPr>
              <a:t>渲染方式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OpenGL/Direct3D 硬件加速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id="{626D7CEA-5FE8-CB01-3797-66684CE20ACE}"/>
              </a:ext>
            </a:extLst>
          </p:cNvPr>
          <p:cNvSpPr txBox="1"/>
          <p:nvPr/>
        </p:nvSpPr>
        <p:spPr>
          <a:xfrm>
            <a:off x="8205756" y="4493086"/>
            <a:ext cx="3319001" cy="584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SimHei"/>
              </a:rPr>
              <a:t>进程模型</a:t>
            </a:r>
            <a:endParaRPr lang="en-US" altLang="zh-CN" sz="16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App + SDK 双进程 IPC 隔离</a:t>
            </a:r>
          </a:p>
        </p:txBody>
      </p:sp>
      <p:sp>
        <p:nvSpPr>
          <p:cNvPr id="42" name="矩形 41">
            <a:extLst>
              <a:ext uri="{FF2B5EF4-FFF2-40B4-BE49-F238E27FC236}">
                <a16:creationId id="{DECACA0E-E232-1F71-2AAD-C079B8C6CD44}"/>
              </a:ext>
            </a:extLst>
          </p:cNvPr>
          <p:cNvSpPr/>
          <p:nvPr/>
        </p:nvSpPr>
        <p:spPr>
          <a:xfrm>
            <a:off x="4376478" y="2302349"/>
            <a:ext cx="3480320" cy="1921967"/>
          </a:xfrm>
          <a:prstGeom prst="rect">
            <a:avLst/>
          </a:prstGeom>
          <a:pattFill prst="ltVert">
            <a:fgClr>
              <a:srgbClr val="25C2D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3" name="矩形 42">
            <a:extLst>
              <a:ext uri="{FF2B5EF4-FFF2-40B4-BE49-F238E27FC236}">
                <a16:creationId id="{1201A825-E727-89CB-3E7E-E5FDA8E3178F}"/>
              </a:ext>
            </a:extLst>
          </p:cNvPr>
          <p:cNvSpPr/>
          <p:nvPr/>
        </p:nvSpPr>
        <p:spPr>
          <a:xfrm>
            <a:off x="8205756" y="2302349"/>
            <a:ext cx="3480320" cy="1921967"/>
          </a:xfrm>
          <a:prstGeom prst="rect">
            <a:avLst/>
          </a:prstGeom>
          <a:pattFill prst="ltHorz">
            <a:fgClr>
              <a:srgbClr val="6C81B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val="166021927"/>
      </p:ext>
    </p:extLst>
  </p:cSld>
  <p:clrMapOvr>
    <a:masterClrMapping/>
  </p:clrMapOvr>
</p:sld>
</file>

<file path=ppt/slides/slide1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0733E767-E071-1B3D-EC94-ACFA47081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id="{8EE2E1A1-ACC8-CB9E-F3EA-D8FE72676A0E}"/>
              </a:ext>
            </a:extLst>
          </p:cNvPr>
          <p:cNvSpPr/>
          <p:nvPr/>
        </p:nvSpPr>
        <p:spPr>
          <a:xfrm>
            <a:off x="6388447" y="2432835"/>
            <a:ext cx="5278738" cy="3452677"/>
          </a:xfrm>
          <a:prstGeom prst="rect">
            <a:avLst/>
          </a:prstGeom>
          <a:pattFill prst="ltDnDiag">
            <a:fgClr>
              <a:srgbClr val="25C2D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id="{C3074BD4-4DDE-D321-F1A9-EEF8FF1A076C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id="{1B9905FF-442A-A874-54EB-EF8955B48884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TENCENT MEETING</a:t>
              </a:r>
              <a:r>
                <a:rPr lang="zh-CN" alt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id="{4E0A8210-1F5D-A3C2-8882-FAAD17F19456}"/>
                </a:ext>
              </a:extLst>
            </p:cNvPr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2025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>
              <a:extLst>
                <a:ext uri="{FF2B5EF4-FFF2-40B4-BE49-F238E27FC236}">
                  <a16:creationId id="{31A8279E-4031-98DF-4AE0-0FD294CB1063}"/>
                </a:ext>
              </a:extLst>
            </p:cNvPr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>
            <a:extLst>
              <a:ext uri="{FF2B5EF4-FFF2-40B4-BE49-F238E27FC236}">
                <a16:creationId id="{91770C30-0C43-023C-43F7-CBBF6EB7E9F3}"/>
              </a:ext>
            </a:extLst>
          </p:cNvPr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TMUI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id="{7ECCDBCC-DA2E-2003-7153-CB77481A82CB}"/>
              </a:ext>
            </a:extLst>
          </p:cNvPr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SimHei"/>
              </a:rPr>
              <a:t>IPC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SimHei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id="{996F59E9-3AEC-AC0F-24B7-4432260900C8}"/>
              </a:ext>
            </a:extLst>
          </p:cNvPr>
          <p:cNvSpPr/>
          <p:nvPr/>
        </p:nvSpPr>
        <p:spPr>
          <a:xfrm>
            <a:off x="524798" y="1206344"/>
            <a:ext cx="8810587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双进程通信机制</a:t>
            </a:r>
            <a:r>
              <a:rPr lang="zh-CN" altLang="en-US" sz="4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/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  <p:cxnSp>
        <p:nvCxnSpPr>
          <p:cNvPr id="10" name="直线连接符 9">
            <a:extLst>
              <a:ext uri="{FF2B5EF4-FFF2-40B4-BE49-F238E27FC236}">
                <a16:creationId id="{2B827151-4276-74C6-9148-F54B8FA729DD}"/>
              </a:ext>
            </a:extLst>
          </p:cNvPr>
          <p:cNvCxnSpPr>
            <a:cxnSpLocks/>
          </p:cNvCxnSpPr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id="{06CEF79B-BDA5-B5C4-FDCC-21292344526C}"/>
              </a:ext>
            </a:extLst>
          </p:cNvPr>
          <p:cNvCxnSpPr>
            <a:cxnSpLocks/>
          </p:cNvCxnSpPr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>
            <a:extLst>
              <a:ext uri="{FF2B5EF4-FFF2-40B4-BE49-F238E27FC236}">
                <a16:creationId id="{A1DA29C7-D35A-DCF5-C758-3742317B3C92}"/>
              </a:ext>
            </a:extLst>
          </p:cNvPr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App ↔ SDK 桥接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id="{6806E61F-5B4C-BBCF-690B-EACCC44F7FD3}"/>
              </a:ext>
            </a:extLst>
          </p:cNvPr>
          <p:cNvSpPr txBox="1"/>
          <p:nvPr/>
        </p:nvSpPr>
        <p:spPr>
          <a:xfrm>
            <a:off x="524798" y="3211552"/>
            <a:ext cx="5115516" cy="1754326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App 进程创建 Server 端，拉起 SDK UI 进程并传递端口号，监听 Client 连接。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建立双向流式通道后，通过 Socket + 异步任务队列进行接口调用。</a:t>
            </a: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优势：SDK 崩溃不影响 App 进程，UI 卡死不拖垮媒体引擎。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App 进程与 SDK 进程通过 cgroup 限制资源，避免单进程过载。</a:t>
            </a:r>
          </a:p>
        </p:txBody>
      </p:sp>
    </p:spTree>
    <p:extLst>
      <p:ext uri="{BB962C8B-B14F-4D97-AF65-F5344CB8AC3E}">
        <p14:creationId val="2159064439"/>
      </p:ext>
    </p:extLst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2BBE12AE-0EA8-F8C1-F4F0-38E934224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id="{3F890906-BB05-30CE-337A-E9D823836F6C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id="{46B4533D-693F-1837-6098-0B2EE742617C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TENCENT MEETING</a:t>
              </a:r>
              <a:r>
                <a:rPr lang="zh-CN" alt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id="{23B8117A-13A8-22A6-D341-48851B822CEC}"/>
                </a:ext>
              </a:extLst>
            </p:cNvPr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2025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>
              <a:extLst>
                <a:ext uri="{FF2B5EF4-FFF2-40B4-BE49-F238E27FC236}">
                  <a16:creationId id="{DE6425EF-CDBC-EE20-1F44-BAEB1A66FCEA}"/>
                </a:ext>
              </a:extLst>
            </p:cNvPr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>
            <a:extLst>
              <a:ext uri="{FF2B5EF4-FFF2-40B4-BE49-F238E27FC236}">
                <a16:creationId id="{EAD93118-9303-D9C6-39BE-9956F2ED5257}"/>
              </a:ext>
            </a:extLst>
          </p:cNvPr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0A84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TMUI</a:t>
            </a:r>
            <a:endParaRPr lang="en-US" sz="800" dirty="0">
              <a:solidFill>
                <a:srgbClr val="0A84FF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id="{74CF4676-5A90-55DC-9417-EF590B90CA45}"/>
              </a:ext>
            </a:extLst>
          </p:cNvPr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SimHei"/>
              </a:rPr>
              <a:t>MULTI-END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SimHei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id="{9EC7B1DA-A98F-5E8D-F69E-601169067851}"/>
              </a:ext>
            </a:extLst>
          </p:cNvPr>
          <p:cNvSpPr/>
          <p:nvPr/>
        </p:nvSpPr>
        <p:spPr>
          <a:xfrm>
            <a:off x="524799" y="1206344"/>
            <a:ext cx="8491610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多端技术栈一览</a:t>
            </a:r>
            <a:r>
              <a:rPr lang="zh-CN" altLang="en-US" sz="4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/>
            </a: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/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  <p:cxnSp>
        <p:nvCxnSpPr>
          <p:cNvPr id="10" name="直线连接符 9">
            <a:extLst>
              <a:ext uri="{FF2B5EF4-FFF2-40B4-BE49-F238E27FC236}">
                <a16:creationId id="{9924D6C9-8791-DDCF-33C8-4558BEBDD1EA}"/>
              </a:ext>
            </a:extLst>
          </p:cNvPr>
          <p:cNvCxnSpPr>
            <a:cxnSpLocks/>
          </p:cNvCxnSpPr>
          <p:nvPr/>
        </p:nvCxnSpPr>
        <p:spPr>
          <a:xfrm>
            <a:off x="524799" y="2745218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id="{56A45598-23A6-64EC-1063-D38953D32EBC}"/>
              </a:ext>
            </a:extLst>
          </p:cNvPr>
          <p:cNvSpPr txBox="1"/>
          <p:nvPr/>
        </p:nvSpPr>
        <p:spPr>
          <a:xfrm>
            <a:off x="524798" y="1947920"/>
            <a:ext cx="4063158" cy="369332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Windows/macOS 桌面端以 Qt C++ 为主，局部内嵌 WebView 承载登录/会前检查等页面。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id="{C3C8E45D-16B3-AEFF-A3CB-723371511427}"/>
              </a:ext>
            </a:extLst>
          </p:cNvPr>
          <p:cNvSpPr txBox="1"/>
          <p:nvPr/>
        </p:nvSpPr>
        <p:spPr>
          <a:xfrm>
            <a:off x="6551685" y="3011016"/>
            <a:ext cx="4270228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iOS/Android 采用原生 UI + C++ 通用层，通过 ModuleManager 实现组件化生命周期管理与跨组件通信。企微插件化接入时复用账号/通讯录/窗口。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id="{3E5AF4B3-2FB2-CCFC-4E31-F169C265A7DC}"/>
              </a:ext>
            </a:extLst>
          </p:cNvPr>
          <p:cNvCxnSpPr>
            <a:cxnSpLocks/>
          </p:cNvCxnSpPr>
          <p:nvPr/>
        </p:nvCxnSpPr>
        <p:spPr>
          <a:xfrm>
            <a:off x="524799" y="3830812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id="{B466604A-F16C-B39E-5506-43441CA572BF}"/>
              </a:ext>
            </a:extLst>
          </p:cNvPr>
          <p:cNvSpPr txBox="1"/>
          <p:nvPr/>
        </p:nvSpPr>
        <p:spPr>
          <a:xfrm>
            <a:off x="6551685" y="4096610"/>
            <a:ext cx="4270228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Web/H5 端基于 Vue3 + TUIRoomKit，提供 PreConferenceView 和 ConferenceMainView 等完整视图组件，配套 conference API 控制生命周期。</a:t>
            </a:r>
          </a:p>
        </p:txBody>
      </p:sp>
      <p:cxnSp>
        <p:nvCxnSpPr>
          <p:cNvPr id="22" name="直线连接符 21">
            <a:extLst>
              <a:ext uri="{FF2B5EF4-FFF2-40B4-BE49-F238E27FC236}">
                <a16:creationId id="{6151BAC6-7978-EF1F-C1DE-1348AB8DC537}"/>
              </a:ext>
            </a:extLst>
          </p:cNvPr>
          <p:cNvCxnSpPr>
            <a:cxnSpLocks/>
          </p:cNvCxnSpPr>
          <p:nvPr/>
        </p:nvCxnSpPr>
        <p:spPr>
          <a:xfrm>
            <a:off x="524799" y="4916406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id="{C672AE45-47FA-F032-9CB4-A761956DC8BC}"/>
              </a:ext>
            </a:extLst>
          </p:cNvPr>
          <p:cNvSpPr txBox="1"/>
          <p:nvPr/>
        </p:nvSpPr>
        <p:spPr>
          <a:xfrm>
            <a:off x="6551685" y="5182204"/>
            <a:ext cx="4270228" cy="369332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小程序/企微内嵌使用 TDesign 小程序版 + JSAPI 桥，通过 ui.* 和 meeting.* 接口控制界面。</a:t>
            </a:r>
          </a:p>
        </p:txBody>
      </p:sp>
      <p:cxnSp>
        <p:nvCxnSpPr>
          <p:cNvPr id="24" name="直线连接符 23">
            <a:extLst>
              <a:ext uri="{FF2B5EF4-FFF2-40B4-BE49-F238E27FC236}">
                <a16:creationId id="{1FFAEC80-9FDC-34F1-957F-F9DB0D69B1C0}"/>
              </a:ext>
            </a:extLst>
          </p:cNvPr>
          <p:cNvCxnSpPr>
            <a:cxnSpLocks/>
          </p:cNvCxnSpPr>
          <p:nvPr/>
        </p:nvCxnSpPr>
        <p:spPr>
          <a:xfrm>
            <a:off x="524799" y="6002002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utoShape 5">
            <a:extLst>
              <a:ext uri="{FF2B5EF4-FFF2-40B4-BE49-F238E27FC236}">
                <a16:creationId id="{A360189E-AA9D-7903-705B-2EC8CEBA4365}"/>
              </a:ext>
            </a:extLst>
          </p:cNvPr>
          <p:cNvSpPr/>
          <p:nvPr/>
        </p:nvSpPr>
        <p:spPr>
          <a:xfrm>
            <a:off x="524799" y="3009744"/>
            <a:ext cx="3399501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40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Qt/C++</a:t>
            </a:r>
          </a:p>
        </p:txBody>
      </p:sp>
      <p:sp>
        <p:nvSpPr>
          <p:cNvPr id="26" name="AutoShape 5">
            <a:extLst>
              <a:ext uri="{FF2B5EF4-FFF2-40B4-BE49-F238E27FC236}">
                <a16:creationId id="{D8E9F804-4A86-2846-E410-3D0E400412A4}"/>
              </a:ext>
            </a:extLst>
          </p:cNvPr>
          <p:cNvSpPr/>
          <p:nvPr/>
        </p:nvSpPr>
        <p:spPr>
          <a:xfrm>
            <a:off x="524799" y="4089244"/>
            <a:ext cx="3399501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40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Native</a:t>
            </a:r>
          </a:p>
        </p:txBody>
      </p:sp>
      <p:sp>
        <p:nvSpPr>
          <p:cNvPr id="27" name="AutoShape 5">
            <a:extLst>
              <a:ext uri="{FF2B5EF4-FFF2-40B4-BE49-F238E27FC236}">
                <a16:creationId id="{BECCACB3-9CA0-1C2F-2423-9610120F2163}"/>
              </a:ext>
            </a:extLst>
          </p:cNvPr>
          <p:cNvSpPr/>
          <p:nvPr/>
        </p:nvSpPr>
        <p:spPr>
          <a:xfrm>
            <a:off x="524799" y="5168744"/>
            <a:ext cx="3399501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40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Web/H5</a:t>
            </a:r>
          </a:p>
        </p:txBody>
      </p:sp>
    </p:spTree>
    <p:extLst>
      <p:ext uri="{BB962C8B-B14F-4D97-AF65-F5344CB8AC3E}">
        <p14:creationId val="2237583426"/>
      </p:ext>
    </p:extLst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F2B7A493-D4D4-BA7C-9EF5-CBA02C07C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id="{8A41E306-154D-527E-75B7-E8FE9A853605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id="{C815537D-1DE4-155A-2011-A0FDBBBAA812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TENCENT MEETING</a:t>
              </a:r>
              <a:r>
                <a:rPr lang="zh-CN" alt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id="{DC75A01C-84B6-8B63-7CC6-3EE854D8EF34}"/>
                </a:ext>
              </a:extLst>
            </p:cNvPr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2025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>
              <a:extLst>
                <a:ext uri="{FF2B5EF4-FFF2-40B4-BE49-F238E27FC236}">
                  <a16:creationId id="{F7EBBE0B-DF58-A821-7E4A-E25559685687}"/>
                </a:ext>
              </a:extLst>
            </p:cNvPr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>
            <a:extLst>
              <a:ext uri="{FF2B5EF4-FFF2-40B4-BE49-F238E27FC236}">
                <a16:creationId id="{ECC359C6-8164-0B1A-6644-BA774023302C}"/>
              </a:ext>
            </a:extLst>
          </p:cNvPr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TMUI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id="{D11E238D-D1D4-5150-AE1F-5643FA60D38F}"/>
              </a:ext>
            </a:extLst>
          </p:cNvPr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SimHei"/>
              </a:rPr>
              <a:t>STATE MGMT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SimHei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id="{8BCDF000-A689-F16B-ABD4-E16932003C63}"/>
              </a:ext>
            </a:extLst>
          </p:cNvPr>
          <p:cNvSpPr/>
          <p:nvPr/>
        </p:nvSpPr>
        <p:spPr>
          <a:xfrm>
            <a:off x="524798" y="1206344"/>
            <a:ext cx="8970075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状态管理模型</a:t>
            </a:r>
            <a:r>
              <a:rPr lang="zh-CN" altLang="en-US" sz="4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/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  <p:cxnSp>
        <p:nvCxnSpPr>
          <p:cNvPr id="10" name="直线连接符 9">
            <a:extLst>
              <a:ext uri="{FF2B5EF4-FFF2-40B4-BE49-F238E27FC236}">
                <a16:creationId id="{7CE159D0-A0D3-1F98-D1AF-3EAB019A48FC}"/>
              </a:ext>
            </a:extLst>
          </p:cNvPr>
          <p:cNvCxnSpPr>
            <a:cxnSpLocks/>
          </p:cNvCxnSpPr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id="{42B75E19-6845-6307-3F10-3A5031DBBFDD}"/>
              </a:ext>
            </a:extLst>
          </p:cNvPr>
          <p:cNvCxnSpPr>
            <a:cxnSpLocks/>
          </p:cNvCxnSpPr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>
            <a:extLst>
              <a:ext uri="{FF2B5EF4-FFF2-40B4-BE49-F238E27FC236}">
                <a16:creationId id="{2D4F0C6A-AC9B-CAE5-4AFD-26D40359BB83}"/>
              </a:ext>
            </a:extLst>
          </p:cNvPr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01 视图状态层</a:t>
            </a: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/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  <p:sp>
        <p:nvSpPr>
          <p:cNvPr id="11" name="AutoShape 5">
            <a:extLst>
              <a:ext uri="{FF2B5EF4-FFF2-40B4-BE49-F238E27FC236}">
                <a16:creationId id="{4F06F506-B1BE-AF99-76FE-2C9D4BBC3FCE}"/>
              </a:ext>
            </a:extLst>
          </p:cNvPr>
          <p:cNvSpPr/>
          <p:nvPr/>
        </p:nvSpPr>
        <p:spPr>
          <a:xfrm>
            <a:off x="6528693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02 媒体状态层</a:t>
            </a: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/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id="{B1519D09-3379-076C-C724-554FCA263C32}"/>
              </a:ext>
            </a:extLst>
          </p:cNvPr>
          <p:cNvSpPr txBox="1"/>
          <p:nvPr/>
        </p:nvSpPr>
        <p:spPr>
          <a:xfrm>
            <a:off x="524798" y="3211552"/>
            <a:ext cx="5115516" cy="1754326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视图状态驱动 UI 渲染：viewMode=gallery/speaker、selfVideoOn、pinnedUserId 只改 DOM/CSS，不产生信令。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会中状态机：idle → connecting → reconnecting → in-meeting → leaving → ended。</a:t>
            </a: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参考 MeetingDemo 的 QML + C++ 状态分层设计。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/>
            </a:r>
          </a:p>
        </p:txBody>
      </p:sp>
      <p:sp>
        <p:nvSpPr>
          <p:cNvPr id="6" name="文本框 5">
            <a:extLst>
              <a:ext uri="{FF2B5EF4-FFF2-40B4-BE49-F238E27FC236}">
                <a16:creationId id="{FB95ECA7-900C-F05F-6454-FBF4C1D684F5}"/>
              </a:ext>
            </a:extLst>
          </p:cNvPr>
          <p:cNvSpPr txBox="1"/>
          <p:nvPr/>
        </p:nvSpPr>
        <p:spPr>
          <a:xfrm>
            <a:off x="6528694" y="3211552"/>
            <a:ext cx="5138506" cy="2277547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媒体状态由 SDK 事件下发：参会者列表、举手、字幕开关、共享焦点。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UI 层只做订阅渲染，不直接操作媒体管线。</a:t>
            </a: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断网重连时视图状态冻结，媒体恢复后自动续接。</a:t>
            </a: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/>
            </a: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/>
            </a:r>
          </a:p>
        </p:txBody>
      </p:sp>
    </p:spTree>
    <p:extLst>
      <p:ext uri="{BB962C8B-B14F-4D97-AF65-F5344CB8AC3E}">
        <p14:creationId val="2371677434"/>
      </p:ext>
    </p:extLst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3323FD81-8C4D-2E7A-B231-A433E92FE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id="{7D63899F-5C54-FD04-94AF-6999C7CD855A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id="{0B45113C-1566-FDE9-613D-214C865A1D2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TENCENT MEETING</a:t>
              </a:r>
              <a:r>
                <a:rPr lang="zh-CN" alt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id="{88F2E0EC-721C-71DD-5190-8DEC134CAD81}"/>
                </a:ext>
              </a:extLst>
            </p:cNvPr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2025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>
              <a:extLst>
                <a:ext uri="{FF2B5EF4-FFF2-40B4-BE49-F238E27FC236}">
                  <a16:creationId id="{F08E4B21-7C93-2670-1912-95617392948E}"/>
                </a:ext>
              </a:extLst>
            </p:cNvPr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>
            <a:extLst>
              <a:ext uri="{FF2B5EF4-FFF2-40B4-BE49-F238E27FC236}">
                <a16:creationId id="{9600106A-81AF-CEAF-641E-615798D9A850}"/>
              </a:ext>
            </a:extLst>
          </p:cNvPr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TMUI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id="{078B7436-6CA5-048B-9877-46C9D6AD4382}"/>
              </a:ext>
            </a:extLst>
          </p:cNvPr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SimHei"/>
              </a:rPr>
              <a:t>DESIGN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SimHei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id="{E75E1536-6255-3D13-4B36-FE80B00A6C17}"/>
              </a:ext>
            </a:extLst>
          </p:cNvPr>
          <p:cNvSpPr/>
          <p:nvPr/>
        </p:nvSpPr>
        <p:spPr>
          <a:xfrm>
            <a:off x="524798" y="1206344"/>
            <a:ext cx="8057407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设计体系与组件化</a:t>
            </a:r>
            <a:r>
              <a:rPr lang="zh-CN" altLang="en-US" sz="4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/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  <p:cxnSp>
        <p:nvCxnSpPr>
          <p:cNvPr id="10" name="直线连接符 9">
            <a:extLst>
              <a:ext uri="{FF2B5EF4-FFF2-40B4-BE49-F238E27FC236}">
                <a16:creationId id="{6FE85158-B01B-8264-40A9-EA1FDF9EEF7C}"/>
              </a:ext>
            </a:extLst>
          </p:cNvPr>
          <p:cNvCxnSpPr>
            <a:cxnSpLocks/>
          </p:cNvCxnSpPr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id="{03F4501C-1623-7C4B-5C58-44ED212D5E54}"/>
              </a:ext>
            </a:extLst>
          </p:cNvPr>
          <p:cNvSpPr txBox="1"/>
          <p:nvPr/>
        </p:nvSpPr>
        <p:spPr>
          <a:xfrm>
            <a:off x="514208" y="3519328"/>
            <a:ext cx="2788738" cy="107721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TDesign 是腾讯官方企业级设计体系，支撑腾讯会议、腾讯文档、企业微信等核心产品，已开源并支持多技术栈。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/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id="{5CE4FFE3-0CA0-2F90-2BAD-14975E70E198}"/>
              </a:ext>
            </a:extLst>
          </p:cNvPr>
          <p:cNvCxnSpPr>
            <a:cxnSpLocks/>
          </p:cNvCxnSpPr>
          <p:nvPr/>
        </p:nvCxnSpPr>
        <p:spPr>
          <a:xfrm>
            <a:off x="4270690" y="2161018"/>
            <a:ext cx="0" cy="3724494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id="{D9E771F4-47D3-FFEF-715F-4E338730B102}"/>
              </a:ext>
            </a:extLst>
          </p:cNvPr>
          <p:cNvCxnSpPr>
            <a:cxnSpLocks/>
          </p:cNvCxnSpPr>
          <p:nvPr/>
        </p:nvCxnSpPr>
        <p:spPr>
          <a:xfrm>
            <a:off x="7998800" y="2161018"/>
            <a:ext cx="0" cy="3724494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>
            <a:extLst>
              <a:ext uri="{FF2B5EF4-FFF2-40B4-BE49-F238E27FC236}">
                <a16:creationId id="{84BD9170-C567-7496-C3B6-F8F6B2332F7A}"/>
              </a:ext>
            </a:extLst>
          </p:cNvPr>
          <p:cNvSpPr/>
          <p:nvPr/>
        </p:nvSpPr>
        <p:spPr>
          <a:xfrm>
            <a:off x="514213" y="2532397"/>
            <a:ext cx="2788733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01</a:t>
            </a:r>
          </a:p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设计 Token 化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  <p:sp>
        <p:nvSpPr>
          <p:cNvPr id="11" name="AutoShape 5">
            <a:extLst>
              <a:ext uri="{FF2B5EF4-FFF2-40B4-BE49-F238E27FC236}">
                <a16:creationId id="{F4D53DE8-1CEB-53A0-B90A-2BB947781FBA}"/>
              </a:ext>
            </a:extLst>
          </p:cNvPr>
          <p:cNvSpPr/>
          <p:nvPr/>
        </p:nvSpPr>
        <p:spPr>
          <a:xfrm>
            <a:off x="4740376" y="2532397"/>
            <a:ext cx="2788738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02</a:t>
            </a:r>
          </a:p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跨端 API 一致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  <p:sp>
        <p:nvSpPr>
          <p:cNvPr id="14" name="AutoShape 5">
            <a:extLst>
              <a:ext uri="{FF2B5EF4-FFF2-40B4-BE49-F238E27FC236}">
                <a16:creationId id="{5510F43E-1984-9D00-0F7E-643265755C74}"/>
              </a:ext>
            </a:extLst>
          </p:cNvPr>
          <p:cNvSpPr/>
          <p:nvPr/>
        </p:nvSpPr>
        <p:spPr>
          <a:xfrm>
            <a:off x="8582206" y="2532397"/>
            <a:ext cx="2839660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03</a:t>
            </a:r>
          </a:p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主题与暗黑模式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id="{ED537360-A3A8-496E-9593-6C78A2CFB9C6}"/>
              </a:ext>
            </a:extLst>
          </p:cNvPr>
          <p:cNvSpPr txBox="1"/>
          <p:nvPr/>
        </p:nvSpPr>
        <p:spPr>
          <a:xfrm>
            <a:off x="4740375" y="3519328"/>
            <a:ext cx="2788738" cy="1415772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换肤、暗黑、品牌定制均通过 Design Token 实现，非硬编码 CSS。企微/腾讯文档三件套视觉一致。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/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/>
            </a:r>
          </a:p>
        </p:txBody>
      </p:sp>
      <p:sp>
        <p:nvSpPr>
          <p:cNvPr id="21" name="文本框 20">
            <a:extLst>
              <a:ext uri="{FF2B5EF4-FFF2-40B4-BE49-F238E27FC236}">
                <a16:creationId id="{D6726CE7-5603-E0C2-752E-9527D88E0FAF}"/>
              </a:ext>
            </a:extLst>
          </p:cNvPr>
          <p:cNvSpPr txBox="1"/>
          <p:nvPr/>
        </p:nvSpPr>
        <p:spPr>
          <a:xfrm>
            <a:off x="8633128" y="3519328"/>
            <a:ext cx="2788738" cy="1415772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Vue/React小程序组件 API 完全对齐，行为一致、交互逻辑统一，降低多端维护成本。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/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/>
            </a:r>
          </a:p>
        </p:txBody>
      </p:sp>
    </p:spTree>
    <p:extLst>
      <p:ext uri="{BB962C8B-B14F-4D97-AF65-F5344CB8AC3E}">
        <p14:creationId val="2230249943"/>
      </p:ext>
    </p:extLst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E9A56D42-03E7-1A8B-E125-C51771EBD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id="{5C622ECD-500A-0C92-D1CE-930651CD7945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id="{131AEA49-1E70-E022-B818-12E045065410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TENCENT MEETING</a:t>
              </a:r>
              <a:r>
                <a:rPr lang="zh-CN" alt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id="{CB5D33EF-1846-9B1B-AF27-5A9FF9179169}"/>
                </a:ext>
              </a:extLst>
            </p:cNvPr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2025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>
              <a:extLst>
                <a:ext uri="{FF2B5EF4-FFF2-40B4-BE49-F238E27FC236}">
                  <a16:creationId id="{A96BF789-A9EC-FF1D-6EE0-3AD83C004375}"/>
                </a:ext>
              </a:extLst>
            </p:cNvPr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>
            <a:extLst>
              <a:ext uri="{FF2B5EF4-FFF2-40B4-BE49-F238E27FC236}">
                <a16:creationId id="{08F5986F-E04F-2B27-65E9-C8DBB67314B8}"/>
              </a:ext>
            </a:extLst>
          </p:cNvPr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TMUI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id="{DCE83B95-29A5-947E-5DB3-187F95E5CBD0}"/>
              </a:ext>
            </a:extLst>
          </p:cNvPr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SimHei"/>
              </a:rPr>
              <a:t>KEY DESIGN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SimHei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id="{E53B9922-51DF-FCFF-E55E-66B08B599EEC}"/>
              </a:ext>
            </a:extLst>
          </p:cNvPr>
          <p:cNvSpPr/>
          <p:nvPr/>
        </p:nvSpPr>
        <p:spPr>
          <a:xfrm>
            <a:off x="524798" y="1206344"/>
            <a:ext cx="8395881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关键架构亮点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id="{FEB81666-1C20-1EFA-1D42-2C2AF9CB3990}"/>
              </a:ext>
            </a:extLst>
          </p:cNvPr>
          <p:cNvSpPr/>
          <p:nvPr/>
        </p:nvSpPr>
        <p:spPr>
          <a:xfrm>
            <a:off x="3337401" y="2161017"/>
            <a:ext cx="2770674" cy="3821329"/>
          </a:xfrm>
          <a:prstGeom prst="rect">
            <a:avLst/>
          </a:prstGeom>
          <a:solidFill>
            <a:srgbClr val="25C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25C2D9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id="{D3A212B5-CE15-6C8C-CF6C-DBEB4EC619C3}"/>
              </a:ext>
            </a:extLst>
          </p:cNvPr>
          <p:cNvSpPr/>
          <p:nvPr/>
        </p:nvSpPr>
        <p:spPr>
          <a:xfrm>
            <a:off x="6150006" y="2161017"/>
            <a:ext cx="2770674" cy="3821329"/>
          </a:xfrm>
          <a:prstGeom prst="rect">
            <a:avLst/>
          </a:prstGeom>
          <a:solidFill>
            <a:srgbClr val="3153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id="{722DE899-2D2B-01C0-9DB5-77A85CE2AB4D}"/>
              </a:ext>
            </a:extLst>
          </p:cNvPr>
          <p:cNvSpPr/>
          <p:nvPr/>
        </p:nvSpPr>
        <p:spPr>
          <a:xfrm>
            <a:off x="524796" y="2161017"/>
            <a:ext cx="2770674" cy="3821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id="{FFBCF46D-4BC4-5DF1-EFAE-8761B68878B2}"/>
              </a:ext>
            </a:extLst>
          </p:cNvPr>
          <p:cNvSpPr/>
          <p:nvPr/>
        </p:nvSpPr>
        <p:spPr>
          <a:xfrm>
            <a:off x="8962610" y="2161017"/>
            <a:ext cx="2770674" cy="3821329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202632"/>
              </a:solidFill>
            </a:endParaRPr>
          </a:p>
        </p:txBody>
      </p:sp>
      <p:sp>
        <p:nvSpPr>
          <p:cNvPr id="22" name="AutoShape 2">
            <a:extLst>
              <a:ext uri="{FF2B5EF4-FFF2-40B4-BE49-F238E27FC236}">
                <a16:creationId id="{73E5062A-D3D4-13B8-20D2-C8C6D80254BA}"/>
              </a:ext>
            </a:extLst>
          </p:cNvPr>
          <p:cNvSpPr/>
          <p:nvPr/>
        </p:nvSpPr>
        <p:spPr>
          <a:xfrm>
            <a:off x="690202" y="2295779"/>
            <a:ext cx="2432106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01</a:t>
            </a:r>
          </a:p>
        </p:txBody>
      </p:sp>
      <p:sp>
        <p:nvSpPr>
          <p:cNvPr id="23" name="AutoShape 5">
            <a:extLst>
              <a:ext uri="{FF2B5EF4-FFF2-40B4-BE49-F238E27FC236}">
                <a16:creationId id="{493DAB02-3340-2E61-8696-44B5A9480EB7}"/>
              </a:ext>
            </a:extLst>
          </p:cNvPr>
          <p:cNvSpPr/>
          <p:nvPr/>
        </p:nvSpPr>
        <p:spPr>
          <a:xfrm>
            <a:off x="694080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202632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SimHei"/>
              </a:rPr>
              <a:t>视图与媒体正交</a:t>
            </a:r>
            <a:endParaRPr lang="en-US" altLang="zh-CN" sz="1600" dirty="0">
              <a:solidFill>
                <a:srgbClr val="202632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SimHei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id="{80E520F8-7FD7-2A5E-CBDF-E9FFB2E9FB9E}"/>
              </a:ext>
            </a:extLst>
          </p:cNvPr>
          <p:cNvSpPr txBox="1"/>
          <p:nvPr/>
        </p:nvSpPr>
        <p:spPr>
          <a:xfrm>
            <a:off x="694080" y="5115367"/>
            <a:ext cx="2432107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关摄像头 ≠ 切演讲者视图，UI 隐藏视频窗但 RTP 流仍在。</a:t>
            </a:r>
          </a:p>
        </p:txBody>
      </p:sp>
      <p:sp>
        <p:nvSpPr>
          <p:cNvPr id="26" name="AutoShape 5">
            <a:extLst>
              <a:ext uri="{FF2B5EF4-FFF2-40B4-BE49-F238E27FC236}">
                <a16:creationId id="{95F6DFF3-EC29-1BEB-7134-12FF3940FFA1}"/>
              </a:ext>
            </a:extLst>
          </p:cNvPr>
          <p:cNvSpPr/>
          <p:nvPr/>
        </p:nvSpPr>
        <p:spPr>
          <a:xfrm>
            <a:off x="3509199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202632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SimHei"/>
              </a:rPr>
              <a:t>服务端策略下发</a:t>
            </a:r>
            <a:endParaRPr lang="en-US" altLang="zh-CN" sz="1600" dirty="0">
              <a:solidFill>
                <a:srgbClr val="202632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SimHei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id="{C92C47EB-CFA7-4A32-3B20-F7328BD33BD4}"/>
              </a:ext>
            </a:extLst>
          </p:cNvPr>
          <p:cNvSpPr txBox="1"/>
          <p:nvPr/>
        </p:nvSpPr>
        <p:spPr>
          <a:xfrm>
            <a:off x="3509199" y="5115367"/>
            <a:ext cx="2432107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企业版 force_view_mode 走 join 响应，不污染本地状态机。</a:t>
            </a:r>
          </a:p>
        </p:txBody>
      </p:sp>
      <p:sp>
        <p:nvSpPr>
          <p:cNvPr id="29" name="AutoShape 2">
            <a:extLst>
              <a:ext uri="{FF2B5EF4-FFF2-40B4-BE49-F238E27FC236}">
                <a16:creationId id="{7F0AAD2C-9B4C-02E9-F19C-37848927CBEA}"/>
              </a:ext>
            </a:extLst>
          </p:cNvPr>
          <p:cNvSpPr/>
          <p:nvPr/>
        </p:nvSpPr>
        <p:spPr>
          <a:xfrm>
            <a:off x="3509199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02</a:t>
            </a:r>
          </a:p>
        </p:txBody>
      </p:sp>
      <p:sp>
        <p:nvSpPr>
          <p:cNvPr id="31" name="AutoShape 5">
            <a:extLst>
              <a:ext uri="{FF2B5EF4-FFF2-40B4-BE49-F238E27FC236}">
                <a16:creationId id="{2BA66D56-EE33-C6F7-877B-F2CF6050D06F}"/>
              </a:ext>
            </a:extLst>
          </p:cNvPr>
          <p:cNvSpPr/>
          <p:nvPr/>
        </p:nvSpPr>
        <p:spPr>
          <a:xfrm>
            <a:off x="6316793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EDF7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SimHei"/>
              </a:rPr>
              <a:t>双进程 IPC 隔离</a:t>
            </a:r>
            <a:endParaRPr lang="en-US" altLang="zh-CN" sz="1600" dirty="0">
              <a:solidFill>
                <a:srgbClr val="EDF7FF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SimHei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id="{A4AB5211-EAF9-5E86-92D5-7C933B2E9B74}"/>
              </a:ext>
            </a:extLst>
          </p:cNvPr>
          <p:cNvSpPr txBox="1"/>
          <p:nvPr/>
        </p:nvSpPr>
        <p:spPr>
          <a:xfrm>
            <a:off x="6316793" y="5115367"/>
            <a:ext cx="2432107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EDF7FF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UI 崩了不拖媒体，媒体重组不影响窗口树，故障域隔离。</a:t>
            </a:r>
          </a:p>
        </p:txBody>
      </p:sp>
      <p:sp>
        <p:nvSpPr>
          <p:cNvPr id="33" name="AutoShape 2">
            <a:extLst>
              <a:ext uri="{FF2B5EF4-FFF2-40B4-BE49-F238E27FC236}">
                <a16:creationId id="{621AF9BD-F6EB-1276-E8FB-CCEAA09D0BD0}"/>
              </a:ext>
            </a:extLst>
          </p:cNvPr>
          <p:cNvSpPr/>
          <p:nvPr/>
        </p:nvSpPr>
        <p:spPr>
          <a:xfrm>
            <a:off x="6316793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EDF7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03</a:t>
            </a:r>
          </a:p>
        </p:txBody>
      </p:sp>
      <p:sp>
        <p:nvSpPr>
          <p:cNvPr id="34" name="AutoShape 5">
            <a:extLst>
              <a:ext uri="{FF2B5EF4-FFF2-40B4-BE49-F238E27FC236}">
                <a16:creationId id="{23BDED98-DD94-A756-4A86-D8C9F7E4B51F}"/>
              </a:ext>
            </a:extLst>
          </p:cNvPr>
          <p:cNvSpPr/>
          <p:nvPr/>
        </p:nvSpPr>
        <p:spPr>
          <a:xfrm>
            <a:off x="9137266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EDF7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SimHei"/>
              </a:rPr>
              <a:t>插件化壳工程</a:t>
            </a:r>
            <a:endParaRPr lang="en-US" altLang="zh-CN" sz="1600" dirty="0">
              <a:solidFill>
                <a:srgbClr val="EDF7FF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SimHei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id="{7881EBDD-B6A6-7D0E-915F-3F06878DF33A}"/>
              </a:ext>
            </a:extLst>
          </p:cNvPr>
          <p:cNvSpPr txBox="1"/>
          <p:nvPr/>
        </p:nvSpPr>
        <p:spPr>
          <a:xfrm>
            <a:off x="9137266" y="5115367"/>
            <a:ext cx="2432107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EDF7FF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企微装腾讯会议以组件形态接入 ModuleManager，复用账号体系。</a:t>
            </a:r>
          </a:p>
        </p:txBody>
      </p:sp>
      <p:sp>
        <p:nvSpPr>
          <p:cNvPr id="36" name="AutoShape 2">
            <a:extLst>
              <a:ext uri="{FF2B5EF4-FFF2-40B4-BE49-F238E27FC236}">
                <a16:creationId id="{EA2C6C3F-2767-43CA-A5B5-E4FE8311C370}"/>
              </a:ext>
            </a:extLst>
          </p:cNvPr>
          <p:cNvSpPr/>
          <p:nvPr/>
        </p:nvSpPr>
        <p:spPr>
          <a:xfrm>
            <a:off x="9137266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EDF7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04</a:t>
            </a:r>
          </a:p>
        </p:txBody>
      </p:sp>
    </p:spTree>
    <p:extLst>
      <p:ext uri="{BB962C8B-B14F-4D97-AF65-F5344CB8AC3E}">
        <p14:creationId val="3762049491"/>
      </p:ext>
    </p:extLst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7349FDC5-FDF4-7FD2-780E-5EE89B8A1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>
            <a:extLst>
              <a:ext uri="{FF2B5EF4-FFF2-40B4-BE49-F238E27FC236}">
                <a16:creationId id="{0EA2F5DE-0853-C193-C3CD-9D48178B25EC}"/>
              </a:ext>
            </a:extLst>
          </p:cNvPr>
          <p:cNvGrpSpPr/>
          <p:nvPr/>
        </p:nvGrpSpPr>
        <p:grpSpPr>
          <a:xfrm>
            <a:off x="-239398" y="-1280369"/>
            <a:ext cx="12667766" cy="9418738"/>
            <a:chOff x="-239398" y="-1280369"/>
            <a:chExt cx="12667766" cy="9418738"/>
          </a:xfrm>
        </p:grpSpPr>
        <p:cxnSp>
          <p:nvCxnSpPr>
            <p:cNvPr id="33" name="直线连接符 32">
              <a:extLst>
                <a:ext uri="{FF2B5EF4-FFF2-40B4-BE49-F238E27FC236}">
                  <a16:creationId id="{710FF954-B43A-BE19-3FD1-355DCC412BE8}"/>
                </a:ext>
              </a:extLst>
            </p:cNvPr>
            <p:cNvCxnSpPr>
              <a:cxnSpLocks/>
            </p:cNvCxnSpPr>
            <p:nvPr/>
          </p:nvCxnSpPr>
          <p:spPr>
            <a:xfrm>
              <a:off x="11945342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>
              <a:extLst>
                <a:ext uri="{FF2B5EF4-FFF2-40B4-BE49-F238E27FC236}">
                  <a16:creationId id="{8A192D3D-B8CF-E04E-52E2-05F76B348CE8}"/>
                </a:ext>
              </a:extLst>
            </p:cNvPr>
            <p:cNvCxnSpPr>
              <a:cxnSpLocks/>
            </p:cNvCxnSpPr>
            <p:nvPr/>
          </p:nvCxnSpPr>
          <p:spPr>
            <a:xfrm>
              <a:off x="243628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>
              <a:extLst>
                <a:ext uri="{FF2B5EF4-FFF2-40B4-BE49-F238E27FC236}">
                  <a16:creationId id="{2FB95525-E33D-A777-53F7-D923D18A8264}"/>
                </a:ext>
              </a:extLst>
            </p:cNvPr>
            <p:cNvCxnSpPr>
              <a:cxnSpLocks/>
            </p:cNvCxnSpPr>
            <p:nvPr/>
          </p:nvCxnSpPr>
          <p:spPr>
            <a:xfrm>
              <a:off x="524797" y="385358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>
              <a:extLst>
                <a:ext uri="{FF2B5EF4-FFF2-40B4-BE49-F238E27FC236}">
                  <a16:creationId id="{5490951A-7D22-C497-E212-A791A8FEA4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13761" y="6442064"/>
              <a:ext cx="12642129" cy="26232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>
              <a:extLst>
                <a:ext uri="{FF2B5EF4-FFF2-40B4-BE49-F238E27FC236}">
                  <a16:creationId id="{28A931E2-CCF1-A8EC-F133-DE46BC4603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39398" y="35907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连接符 60">
              <a:extLst>
                <a:ext uri="{FF2B5EF4-FFF2-40B4-BE49-F238E27FC236}">
                  <a16:creationId id="{3DF79375-123D-8DC5-BDDB-E9333B501C76}"/>
                </a:ext>
              </a:extLst>
            </p:cNvPr>
            <p:cNvCxnSpPr>
              <a:cxnSpLocks/>
            </p:cNvCxnSpPr>
            <p:nvPr/>
          </p:nvCxnSpPr>
          <p:spPr>
            <a:xfrm>
              <a:off x="6074941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>
              <a:extLst>
                <a:ext uri="{FF2B5EF4-FFF2-40B4-BE49-F238E27FC236}">
                  <a16:creationId id="{A274FC72-51A4-2C18-9663-6EB86BD49650}"/>
                </a:ext>
              </a:extLst>
            </p:cNvPr>
            <p:cNvCxnSpPr>
              <a:cxnSpLocks/>
            </p:cNvCxnSpPr>
            <p:nvPr/>
          </p:nvCxnSpPr>
          <p:spPr>
            <a:xfrm>
              <a:off x="11733284" y="359233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>
              <a:extLst>
                <a:ext uri="{FF2B5EF4-FFF2-40B4-BE49-F238E27FC236}">
                  <a16:creationId id="{C61EC69F-3F8F-B7B4-0417-F2A8DA49E1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39398" y="342612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AutoShape 2">
            <a:extLst>
              <a:ext uri="{FF2B5EF4-FFF2-40B4-BE49-F238E27FC236}">
                <a16:creationId id="{085295BA-ABF1-D39D-B79C-76D7BB6F58C7}"/>
              </a:ext>
            </a:extLst>
          </p:cNvPr>
          <p:cNvSpPr/>
          <p:nvPr/>
        </p:nvSpPr>
        <p:spPr>
          <a:xfrm>
            <a:off x="524799" y="4604127"/>
            <a:ext cx="11208479" cy="179536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zh-CN" altLang="en-US" sz="62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ChillYunmoGothicBold"/>
              </a:rPr>
              <a:t>感谢聆听</a:t>
            </a:r>
            <a:endParaRPr lang="en-US" altLang="zh-CN" sz="62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  <a:p>
            <a:pPr>
              <a:lnSpc>
                <a:spcPts val="7000"/>
              </a:lnSpc>
              <a:defRPr/>
            </a:pPr>
            <a:r>
              <a:rPr lang="en-US" altLang="zh-CN" sz="62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THANKS FOR LISTENING</a:t>
            </a:r>
            <a:r>
              <a:rPr lang="zh-CN" altLang="en-US" sz="62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/>
            </a:r>
            <a:r>
              <a:rPr lang="en-US" altLang="zh-CN" sz="62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/>
            </a:r>
            <a:r>
              <a:rPr lang="zh-CN" altLang="en-US" sz="62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/>
            </a:r>
            <a:r>
              <a:rPr lang="en-US" altLang="zh-CN" sz="62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/>
            </a:r>
          </a:p>
        </p:txBody>
      </p:sp>
      <p:grpSp>
        <p:nvGrpSpPr>
          <p:cNvPr id="2" name="组合 1">
            <a:extLst>
              <a:ext uri="{FF2B5EF4-FFF2-40B4-BE49-F238E27FC236}">
                <a16:creationId id="{257ACB28-3EED-3F65-E9BE-2B42F329609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id="{F431B32F-9C1F-4103-F9F6-2350B5AC7C03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TENCENT MEETING</a:t>
              </a:r>
              <a:r>
                <a:rPr lang="zh-CN" alt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/>
              </a:r>
              <a:r>
                <a:rPr lang="en-US" altLang="zh-CN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/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JetBrains Mono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id="{6DC2AEBD-02CA-4EC1-3D3D-04B1C782DEE1}"/>
                </a:ext>
              </a:extLst>
            </p:cNvPr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2025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id="{F9DE4BDF-B21D-76D5-1E11-5F37DD1FCEE5}"/>
                </a:ext>
              </a:extLst>
            </p:cNvPr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UI ARCH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</p:grpSp>
    </p:spTree>
    <p:extLst>
      <p:ext uri="{BB962C8B-B14F-4D97-AF65-F5344CB8AC3E}">
        <p14:creationId val="711464613"/>
      </p:ext>
    </p:extLst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id="{0733E767-E071-1B3D-EC94-ACFA47081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id="{8EE2E1A1-ACC8-CB9E-F3EA-D8FE72676A0E}"/>
              </a:ext>
            </a:extLst>
          </p:cNvPr>
          <p:cNvSpPr/>
          <p:nvPr/>
        </p:nvSpPr>
        <p:spPr>
          <a:xfrm>
            <a:off x="6388447" y="2432835"/>
            <a:ext cx="5278738" cy="3452677"/>
          </a:xfrm>
          <a:prstGeom prst="rect">
            <a:avLst/>
          </a:prstGeom>
          <a:pattFill prst="ltDnDiag">
            <a:fgClr>
              <a:srgbClr val="25C2D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id="{C3074BD4-4DDE-D321-F1A9-EEF8FF1A076C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id="{1B9905FF-442A-A874-54EB-EF8955B48884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TENCENT MEETING</a:t>
              </a:r>
              <a:r>
                <a:rPr lang="zh-CN" alt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/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id="{4E0A8210-1F5D-A3C2-8882-FAAD17F19456}"/>
                </a:ext>
              </a:extLst>
            </p:cNvPr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2025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>
              <a:extLst>
                <a:ext uri="{FF2B5EF4-FFF2-40B4-BE49-F238E27FC236}">
                  <a16:creationId id="{31A8279E-4031-98DF-4AE0-0FD294CB1063}"/>
                </a:ext>
              </a:extLst>
            </p:cNvPr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>
            <a:extLst>
              <a:ext uri="{FF2B5EF4-FFF2-40B4-BE49-F238E27FC236}">
                <a16:creationId id="{91770C30-0C43-023C-43F7-CBBF6EB7E9F3}"/>
              </a:ext>
            </a:extLst>
          </p:cNvPr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TMUI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id="{7ECCDBCC-DA2E-2003-7153-CB77481A82CB}"/>
              </a:ext>
            </a:extLst>
          </p:cNvPr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SimHei"/>
              </a:rPr>
              <a:t>SUMMARY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SimHei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id="{996F59E9-3AEC-AC0F-24B7-4432260900C8}"/>
              </a:ext>
            </a:extLst>
          </p:cNvPr>
          <p:cNvSpPr/>
          <p:nvPr/>
        </p:nvSpPr>
        <p:spPr>
          <a:xfrm>
            <a:off x="524798" y="1206344"/>
            <a:ext cx="8810587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开放平台视角</a:t>
            </a:r>
            <a:r>
              <a:rPr lang="zh-CN" altLang="en-US" sz="4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/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  <p:cxnSp>
        <p:nvCxnSpPr>
          <p:cNvPr id="10" name="直线连接符 9">
            <a:extLst>
              <a:ext uri="{FF2B5EF4-FFF2-40B4-BE49-F238E27FC236}">
                <a16:creationId id="{2B827151-4276-74C6-9148-F54B8FA729DD}"/>
              </a:ext>
            </a:extLst>
          </p:cNvPr>
          <p:cNvCxnSpPr>
            <a:cxnSpLocks/>
          </p:cNvCxnSpPr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id="{06CEF79B-BDA5-B5C4-FDCC-21292344526C}"/>
              </a:ext>
            </a:extLst>
          </p:cNvPr>
          <p:cNvCxnSpPr>
            <a:cxnSpLocks/>
          </p:cNvCxnSpPr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>
            <a:extLst>
              <a:ext uri="{FF2B5EF4-FFF2-40B4-BE49-F238E27FC236}">
                <a16:creationId id="{A1DA29C7-D35A-DCF5-C758-3742317B3C92}"/>
              </a:ext>
            </a:extLst>
          </p:cNvPr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SimHei"/>
              </a:rPr>
              <a:t>第三方集成切面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SimHei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id="{6806E61F-5B4C-BBCF-690B-EACCC44F7FD3}"/>
              </a:ext>
            </a:extLst>
          </p:cNvPr>
          <p:cNvSpPr txBox="1"/>
          <p:nvPr/>
        </p:nvSpPr>
        <p:spPr>
          <a:xfrm>
            <a:off x="524798" y="3211552"/>
            <a:ext cx="5115516" cy="1754326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第三方应用运行在客户端 WebView/JSAPI 沙箱中，ui.showLoading、ui.requestFullscreen 是 UI 层暴露的控制面。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自研集成可用 TUIRoomKit（Vue3/React/Web）快速搭 UI，底层仍是 TRTC。</a:t>
            </a: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>应用需遵守《腾讯会议应用设计规范》：统一控件、少动效、Logo 圆角 16px。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SimHei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SimHei"/>
              </a:rPr>
              <a:t/>
            </a:r>
          </a:p>
        </p:txBody>
      </p:sp>
    </p:spTree>
    <p:extLst>
      <p:ext uri="{BB962C8B-B14F-4D97-AF65-F5344CB8AC3E}">
        <p14:creationId val="2159064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商务-橙黑" id="{CA2A6BEA-C645-764A-85DF-7208A746DD44}" vid="{3F1BCB72-47A7-154D-B48F-676CE577D7B9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商务-橙黑" id="{CA2A6BEA-C645-764A-85DF-7208A746DD44}" vid="{312940A9-D1B4-6B48-B3B8-47ECED890AF0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96</TotalTime>
  <Words>2024</Words>
  <Application>Microsoft Macintosh PowerPoint</Application>
  <PresentationFormat>宽屏</PresentationFormat>
  <Paragraphs>272</Paragraphs>
  <Slides>22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MiSans VF Bold</vt:lpstr>
      <vt:lpstr>MiSans VF Demibold</vt:lpstr>
      <vt:lpstr>MiSans VF Light</vt:lpstr>
      <vt:lpstr>MiSans VF Thin</vt:lpstr>
      <vt:lpstr>Arial</vt:lpstr>
      <vt:lpstr>Didot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T209833</dc:creator>
  <cp:lastModifiedBy>T209833</cp:lastModifiedBy>
  <cp:revision>6</cp:revision>
  <dcterms:created xsi:type="dcterms:W3CDTF">2026-06-02T14:06:00Z</dcterms:created>
  <dcterms:modified xsi:type="dcterms:W3CDTF">2026-06-08T10:47:49Z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{"Label":"1","ContentProducer":"001191440300708461136T1WFUO","ProduceID":"8fcf9b1522b185e0020b481533b5fd6b-0e9F","ReservedCode1":"{\"Type\":\" TC260PG\",\"Version\":1,\"Bindings\":[{\"Type\":\"soft\",\"AlgID\":\"sm3\",\"Value\":\"29f15700b4bf14f8d3a96a19a2da486d8e8c4e5b62fa7d0addf3ee1f83cb70d5\"},{\"Type\":\"hash\",\"AlgID\":\"sm3\",\"Value\":\"fda88ba50eae05907aa0246f130ace0bc51a680a0988d3ba47fd8829fe71864f\"}],\"PubSD\":[{\"Type\":\"DS\",\"AlgID\":\"sm2\",\"TBSData\":{\"Type\":\"Binding\",\"BType\":\"hash\"},\"Signature\":\"304502200e5230eb23e034f6103f47a467bf2ad2ccb243140aa27a8b1c80a0df9e060403022100d88f4a7a0ccafeff1821c9f9bd85f908914973c59b8f872b3944fd17a9fa6131\"},{\"Type\":\"PubKey\",\"AlgID\":\"sm2\",\"KeyValue\":\"0407f79b28a17a752b3aae4305c98b48978213832729a2571850b1310b2bc9fe8fee039ccf25ebfeac27502414d9fcef792d777183c98893d226171c2f7a3289a2\"}],\"Extension\":{\"Timestamp\":1785928575,\"KeyVersion\":\"v1-TxLeOmf7bqU223\"}}","ContentPropagator":"001191440300708461136T1WFUO","PropagateID":"8fcf9b1522b185e0020b481533b5fd6b-0e9F","ReservedCode2":"{\"Type\":\" TC260PG\",\"Version\":1,\"Bindings\":[{\"Type\":\"soft\",\"AlgID\":\"sm3\",\"Value\":\"29f15700b4bf14f8d3a96a19a2da486d8e8c4e5b62fa7d0addf3ee1f83cb70d5\"},{\"Type\":\"hash\",\"AlgID\":\"sm3\",\"Value\":\"fda88ba50eae05907aa0246f130ace0bc51a680a0988d3ba47fd8829fe71864f\"}],\"PubSD\":[{\"Type\":\"DS\",\"AlgID\":\"sm2\",\"TBSData\":{\"Type\":\"Binding\",\"BType\":\"hash\"},\"Signature\":\"304402200ade535d428e6d14fd50ce336cfab3a7994965a3f038c8fba1911b94fff60b54022059c64eac33e28cada44fc2cf9024a12b92fa761ea54fb46b599a65265fafdd61\"},{\"Type\":\"PubKey\",\"AlgID\":\"sm2\",\"KeyValue\":\"0407f79b28a17a752b3aae4305c98b48978213832729a2571850b1310b2bc9fe8fee039ccf25ebfeac27502414d9fcef792d777183c98893d226171c2f7a3289a2\"}],\"Extension\":{\"Timestamp\":1785928575,\"KeyVersion\":\"v1-TxLeOmf7bqU223\"}}"}</vt:lpwstr>
  </property>
</Properties>
</file>